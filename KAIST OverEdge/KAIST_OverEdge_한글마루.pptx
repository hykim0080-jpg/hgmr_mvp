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2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 cy="68580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84048"/>
            <a:ext cx="11365992" cy="365760"/>
          </a:xfrm>
          <a:prstGeom prst="rect">
            <a:avLst/>
          </a:prstGeom>
          <a:noFill/>
        </p:spPr>
        <p:txBody>
          <a:bodyPr wrap="square">
            <a:spAutoFit/>
          </a:bodyPr>
          <a:lstStyle/>
          <a:p>
            <a:pPr algn="l"/>
            <a:r>
              <a:rPr sz="1300" b="0" i="0">
                <a:solidFill>
                  <a:srgbClr val="7FB3E0"/>
                </a:solidFill>
                <a:latin typeface="Apple SD Gothic Neo"/>
              </a:rPr>
              <a:t>KAIST OverEdge  |  창업 아이디어 기술서</a:t>
            </a:r>
          </a:p>
        </p:txBody>
      </p:sp>
      <p:sp>
        <p:nvSpPr>
          <p:cNvPr id="5" name="TextBox 4"/>
          <p:cNvSpPr txBox="1"/>
          <p:nvPr/>
        </p:nvSpPr>
        <p:spPr>
          <a:xfrm>
            <a:off x="594360" y="1188720"/>
            <a:ext cx="7772400" cy="1554480"/>
          </a:xfrm>
          <a:prstGeom prst="rect">
            <a:avLst/>
          </a:prstGeom>
          <a:noFill/>
        </p:spPr>
        <p:txBody>
          <a:bodyPr wrap="square">
            <a:spAutoFit/>
          </a:bodyPr>
          <a:lstStyle/>
          <a:p>
            <a:pPr algn="l"/>
            <a:r>
              <a:rPr sz="5800" b="1" i="0">
                <a:solidFill>
                  <a:srgbClr val="FFFFFF"/>
                </a:solidFill>
                <a:latin typeface="Apple SD Gothic Neo"/>
              </a:rPr>
              <a:t>한글마루</a:t>
            </a:r>
          </a:p>
        </p:txBody>
      </p:sp>
      <p:sp>
        <p:nvSpPr>
          <p:cNvPr id="6" name="Rectangle 5"/>
          <p:cNvSpPr/>
          <p:nvPr/>
        </p:nvSpPr>
        <p:spPr>
          <a:xfrm>
            <a:off x="594360" y="2697480"/>
            <a:ext cx="3657600" cy="8229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2834640"/>
            <a:ext cx="8229600" cy="2103120"/>
          </a:xfrm>
          <a:prstGeom prst="rect">
            <a:avLst/>
          </a:prstGeom>
          <a:noFill/>
        </p:spPr>
        <p:txBody>
          <a:bodyPr wrap="square">
            <a:spAutoFit/>
          </a:bodyPr>
          <a:lstStyle/>
          <a:p>
            <a:pPr algn="l"/>
            <a:r>
              <a:rPr sz="2200" b="0" i="0">
                <a:solidFill>
                  <a:srgbClr val="CCDCF0"/>
                </a:solidFill>
                <a:latin typeface="Apple SD Gothic Neo"/>
              </a:rPr>
              <a:t>문맥 속 빈칸채우기 퀴즈를 통해</a:t>
            </a:r>
          </a:p>
          <a:p>
            <a:pPr algn="l"/>
            <a:r>
              <a:rPr sz="2200" b="0" i="0">
                <a:solidFill>
                  <a:srgbClr val="CCDCF0"/>
                </a:solidFill>
                <a:latin typeface="Apple SD Gothic Neo"/>
              </a:rPr>
              <a:t>게임처럼 즐겁게 문해력을 키우는</a:t>
            </a:r>
          </a:p>
          <a:p>
            <a:pPr algn="l"/>
            <a:r>
              <a:rPr sz="2200" b="0" i="0">
                <a:solidFill>
                  <a:srgbClr val="CCDCF0"/>
                </a:solidFill>
                <a:latin typeface="Apple SD Gothic Neo"/>
              </a:rPr>
              <a:t>AI 어휘 성장 플랫폼</a:t>
            </a:r>
          </a:p>
        </p:txBody>
      </p:sp>
      <p:sp>
        <p:nvSpPr>
          <p:cNvPr id="8" name="Rectangle 7"/>
          <p:cNvSpPr/>
          <p:nvPr/>
        </p:nvSpPr>
        <p:spPr>
          <a:xfrm>
            <a:off x="9326880" y="1737360"/>
            <a:ext cx="2633472" cy="3383280"/>
          </a:xfrm>
          <a:prstGeom prst="rect">
            <a:avLst/>
          </a:prstGeom>
          <a:solidFill>
            <a:srgbClr val="153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0" y="1874519"/>
            <a:ext cx="2286000" cy="384048"/>
          </a:xfrm>
          <a:prstGeom prst="rect">
            <a:avLst/>
          </a:prstGeom>
          <a:noFill/>
        </p:spPr>
        <p:txBody>
          <a:bodyPr wrap="square">
            <a:spAutoFit/>
          </a:bodyPr>
          <a:lstStyle/>
          <a:p>
            <a:pPr algn="l"/>
            <a:r>
              <a:rPr sz="1300" b="1" i="0">
                <a:solidFill>
                  <a:srgbClr val="27AE60"/>
                </a:solidFill>
                <a:latin typeface="Apple SD Gothic Neo"/>
              </a:rPr>
              <a:t>MVP 현황</a:t>
            </a:r>
          </a:p>
        </p:txBody>
      </p:sp>
      <p:sp>
        <p:nvSpPr>
          <p:cNvPr id="10" name="TextBox 9"/>
          <p:cNvSpPr txBox="1"/>
          <p:nvPr/>
        </p:nvSpPr>
        <p:spPr>
          <a:xfrm>
            <a:off x="9509760" y="2304288"/>
            <a:ext cx="2286000" cy="475488"/>
          </a:xfrm>
          <a:prstGeom prst="rect">
            <a:avLst/>
          </a:prstGeom>
          <a:noFill/>
        </p:spPr>
        <p:txBody>
          <a:bodyPr wrap="square">
            <a:spAutoFit/>
          </a:bodyPr>
          <a:lstStyle/>
          <a:p>
            <a:pPr algn="l"/>
            <a:r>
              <a:rPr sz="1100" b="0" i="0">
                <a:solidFill>
                  <a:srgbClr val="FFFFFF"/>
                </a:solidFill>
                <a:latin typeface="Apple SD Gothic Neo"/>
              </a:rPr>
              <a:t>✅  1,189개 큐레이션 단어</a:t>
            </a:r>
          </a:p>
        </p:txBody>
      </p:sp>
      <p:sp>
        <p:nvSpPr>
          <p:cNvPr id="11" name="TextBox 10"/>
          <p:cNvSpPr txBox="1"/>
          <p:nvPr/>
        </p:nvSpPr>
        <p:spPr>
          <a:xfrm>
            <a:off x="9509760" y="2871216"/>
            <a:ext cx="2286000" cy="475488"/>
          </a:xfrm>
          <a:prstGeom prst="rect">
            <a:avLst/>
          </a:prstGeom>
          <a:noFill/>
        </p:spPr>
        <p:txBody>
          <a:bodyPr wrap="square">
            <a:spAutoFit/>
          </a:bodyPr>
          <a:lstStyle/>
          <a:p>
            <a:pPr algn="l"/>
            <a:r>
              <a:rPr sz="1100" b="0" i="0">
                <a:solidFill>
                  <a:srgbClr val="FFFFFF"/>
                </a:solidFill>
                <a:latin typeface="Apple SD Gothic Neo"/>
              </a:rPr>
              <a:t>✅  iOS · Android 배포</a:t>
            </a:r>
          </a:p>
        </p:txBody>
      </p:sp>
      <p:sp>
        <p:nvSpPr>
          <p:cNvPr id="12" name="TextBox 11"/>
          <p:cNvSpPr txBox="1"/>
          <p:nvPr/>
        </p:nvSpPr>
        <p:spPr>
          <a:xfrm>
            <a:off x="9509760" y="3438144"/>
            <a:ext cx="2286000" cy="475488"/>
          </a:xfrm>
          <a:prstGeom prst="rect">
            <a:avLst/>
          </a:prstGeom>
          <a:noFill/>
        </p:spPr>
        <p:txBody>
          <a:bodyPr wrap="square">
            <a:spAutoFit/>
          </a:bodyPr>
          <a:lstStyle/>
          <a:p>
            <a:pPr algn="l"/>
            <a:r>
              <a:rPr sz="1100" b="0" i="0">
                <a:solidFill>
                  <a:srgbClr val="FFFFFF"/>
                </a:solidFill>
                <a:latin typeface="Apple SD Gothic Neo"/>
              </a:rPr>
              <a:t>✅  Claude API 자동화</a:t>
            </a:r>
          </a:p>
        </p:txBody>
      </p:sp>
      <p:sp>
        <p:nvSpPr>
          <p:cNvPr id="13" name="TextBox 12"/>
          <p:cNvSpPr txBox="1"/>
          <p:nvPr/>
        </p:nvSpPr>
        <p:spPr>
          <a:xfrm>
            <a:off x="9509760" y="4005072"/>
            <a:ext cx="2286000" cy="475488"/>
          </a:xfrm>
          <a:prstGeom prst="rect">
            <a:avLst/>
          </a:prstGeom>
          <a:noFill/>
        </p:spPr>
        <p:txBody>
          <a:bodyPr wrap="square">
            <a:spAutoFit/>
          </a:bodyPr>
          <a:lstStyle/>
          <a:p>
            <a:pPr algn="l"/>
            <a:r>
              <a:rPr sz="1100" b="0" i="0">
                <a:solidFill>
                  <a:srgbClr val="FFFFFF"/>
                </a:solidFill>
                <a:latin typeface="Apple SD Gothic Neo"/>
              </a:rPr>
              <a:t>✅  Firebase 실시간 동기화</a:t>
            </a:r>
          </a:p>
        </p:txBody>
      </p:sp>
      <p:sp>
        <p:nvSpPr>
          <p:cNvPr id="14" name="TextBox 13"/>
          <p:cNvSpPr txBox="1"/>
          <p:nvPr/>
        </p:nvSpPr>
        <p:spPr>
          <a:xfrm>
            <a:off x="9509760" y="4572000"/>
            <a:ext cx="2286000" cy="475488"/>
          </a:xfrm>
          <a:prstGeom prst="rect">
            <a:avLst/>
          </a:prstGeom>
          <a:noFill/>
        </p:spPr>
        <p:txBody>
          <a:bodyPr wrap="square">
            <a:spAutoFit/>
          </a:bodyPr>
          <a:lstStyle/>
          <a:p>
            <a:pPr algn="l"/>
            <a:r>
              <a:rPr sz="1100" b="0" i="0">
                <a:solidFill>
                  <a:srgbClr val="FFFFFF"/>
                </a:solidFill>
                <a:latin typeface="Apple SD Gothic Neo"/>
              </a:rPr>
              <a:t>✅  관리자 검수 시스템</a:t>
            </a:r>
          </a:p>
        </p:txBody>
      </p:sp>
      <p:sp>
        <p:nvSpPr>
          <p:cNvPr id="15" name="Rectangle 14"/>
          <p:cNvSpPr/>
          <p:nvPr/>
        </p:nvSpPr>
        <p:spPr>
          <a:xfrm>
            <a:off x="0" y="6080760"/>
            <a:ext cx="12188952" cy="777240"/>
          </a:xfrm>
          <a:prstGeom prst="rect">
            <a:avLst/>
          </a:prstGeom>
          <a:solidFill>
            <a:srgbClr val="081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6199632"/>
            <a:ext cx="11274552" cy="530352"/>
          </a:xfrm>
          <a:prstGeom prst="rect">
            <a:avLst/>
          </a:prstGeom>
          <a:noFill/>
        </p:spPr>
        <p:txBody>
          <a:bodyPr wrap="square">
            <a:spAutoFit/>
          </a:bodyPr>
          <a:lstStyle/>
          <a:p>
            <a:pPr algn="l"/>
            <a:r>
              <a:rPr sz="1100" b="0" i="0">
                <a:solidFill>
                  <a:srgbClr val="BDC3C7"/>
                </a:solidFill>
                <a:latin typeface="Apple SD Gothic Neo"/>
              </a:rPr>
              <a:t>AI 어휘 성장 플랫폼  |  교육  |  2026  |  Hyeongi Kim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11365992" cy="594360"/>
          </a:xfrm>
          <a:prstGeom prst="rect">
            <a:avLst/>
          </a:prstGeom>
          <a:noFill/>
        </p:spPr>
        <p:txBody>
          <a:bodyPr wrap="square">
            <a:spAutoFit/>
          </a:bodyPr>
          <a:lstStyle/>
          <a:p>
            <a:pPr algn="l"/>
            <a:r>
              <a:rPr sz="2200" b="1" i="0">
                <a:solidFill>
                  <a:srgbClr val="FFFFFF"/>
                </a:solidFill>
                <a:latin typeface="Apple SD Gothic Neo"/>
              </a:rPr>
              <a:t>요약 소개</a:t>
            </a:r>
          </a:p>
        </p:txBody>
      </p:sp>
      <p:sp>
        <p:nvSpPr>
          <p:cNvPr id="5" name="TextBox 4"/>
          <p:cNvSpPr txBox="1"/>
          <p:nvPr/>
        </p:nvSpPr>
        <p:spPr>
          <a:xfrm>
            <a:off x="411480" y="658368"/>
            <a:ext cx="11365992" cy="347472"/>
          </a:xfrm>
          <a:prstGeom prst="rect">
            <a:avLst/>
          </a:prstGeom>
          <a:noFill/>
        </p:spPr>
        <p:txBody>
          <a:bodyPr wrap="square">
            <a:spAutoFit/>
          </a:bodyPr>
          <a:lstStyle/>
          <a:p>
            <a:pPr algn="l"/>
            <a:r>
              <a:rPr sz="1200" b="0" i="1">
                <a:solidFill>
                  <a:srgbClr val="ADC6E5"/>
                </a:solidFill>
                <a:latin typeface="Apple SD Gothic Neo"/>
              </a:rPr>
              <a:t>Summary Overview  ·  전체 1 Page</a:t>
            </a:r>
          </a:p>
        </p:txBody>
      </p:sp>
      <p:sp>
        <p:nvSpPr>
          <p:cNvPr id="6" name="Rectangle 5"/>
          <p:cNvSpPr/>
          <p:nvPr/>
        </p:nvSpPr>
        <p:spPr>
          <a:xfrm>
            <a:off x="201168" y="1307592"/>
            <a:ext cx="3758184" cy="5294376"/>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435608"/>
            <a:ext cx="3392424" cy="475488"/>
          </a:xfrm>
          <a:prstGeom prst="rect">
            <a:avLst/>
          </a:prstGeom>
          <a:noFill/>
        </p:spPr>
        <p:txBody>
          <a:bodyPr wrap="square">
            <a:spAutoFit/>
          </a:bodyPr>
          <a:lstStyle/>
          <a:p>
            <a:pPr algn="l"/>
            <a:r>
              <a:rPr sz="1500" b="1" i="0">
                <a:solidFill>
                  <a:srgbClr val="FFFFFF"/>
                </a:solidFill>
                <a:latin typeface="Apple SD Gothic Neo"/>
              </a:rPr>
              <a:t>🔴  Problem</a:t>
            </a:r>
          </a:p>
        </p:txBody>
      </p:sp>
      <p:sp>
        <p:nvSpPr>
          <p:cNvPr id="8" name="Rectangle 7"/>
          <p:cNvSpPr/>
          <p:nvPr/>
        </p:nvSpPr>
        <p:spPr>
          <a:xfrm>
            <a:off x="201168" y="1947672"/>
            <a:ext cx="3758184"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2020824"/>
            <a:ext cx="3392424" cy="347472"/>
          </a:xfrm>
          <a:prstGeom prst="rect">
            <a:avLst/>
          </a:prstGeom>
          <a:noFill/>
        </p:spPr>
        <p:txBody>
          <a:bodyPr wrap="square">
            <a:spAutoFit/>
          </a:bodyPr>
          <a:lstStyle/>
          <a:p>
            <a:pPr algn="l"/>
            <a:r>
              <a:rPr sz="1000" b="0" i="1">
                <a:solidFill>
                  <a:srgbClr val="D5ECFF"/>
                </a:solidFill>
                <a:latin typeface="Apple SD Gothic Neo"/>
              </a:rPr>
              <a:t>풀고자 하는 문제</a:t>
            </a:r>
          </a:p>
        </p:txBody>
      </p:sp>
      <p:sp>
        <p:nvSpPr>
          <p:cNvPr id="10" name="TextBox 9"/>
          <p:cNvSpPr txBox="1"/>
          <p:nvPr/>
        </p:nvSpPr>
        <p:spPr>
          <a:xfrm>
            <a:off x="384048" y="2423160"/>
            <a:ext cx="3392424" cy="4087368"/>
          </a:xfrm>
          <a:prstGeom prst="rect">
            <a:avLst/>
          </a:prstGeom>
          <a:noFill/>
        </p:spPr>
        <p:txBody>
          <a:bodyPr wrap="square">
            <a:spAutoFit/>
          </a:bodyPr>
          <a:lstStyle/>
          <a:p>
            <a:pPr algn="l"/>
            <a:r>
              <a:rPr sz="1200" b="0" i="0">
                <a:solidFill>
                  <a:srgbClr val="FFFFFF"/>
                </a:solidFill>
                <a:latin typeface="Apple SD Gothic Neo"/>
              </a:rPr>
              <a:t>AI 시대에 언어 구사력이 핵심 역량으로 부상한 반면,</a:t>
            </a:r>
          </a:p>
          <a:p>
            <a:pPr algn="l"/>
            <a:r>
              <a:rPr sz="1200" b="0" i="0">
                <a:solidFill>
                  <a:srgbClr val="FFFFFF"/>
                </a:solidFill>
                <a:latin typeface="Apple SD Gothic Neo"/>
              </a:rPr>
              <a:t>현대인의 어휘력은 숏폼 미디어로 급격히 저하.</a:t>
            </a:r>
          </a:p>
          <a:p>
            <a:pPr algn="l"/>
            <a:r>
              <a:rPr sz="1200" b="0" i="0">
                <a:solidFill>
                  <a:srgbClr val="FFFFFF"/>
                </a:solidFill>
                <a:latin typeface="Apple SD Gothic Neo"/>
              </a:rPr>
              <a:t/>
            </a:r>
          </a:p>
          <a:p>
            <a:pPr algn="l"/>
            <a:r>
              <a:rPr sz="1200" b="0" i="0">
                <a:solidFill>
                  <a:srgbClr val="FFFFFF"/>
                </a:solidFill>
                <a:latin typeface="Apple SD Gothic Neo"/>
              </a:rPr>
              <a:t>• 서울 고1 10명 중 3명 기초 문해력 미달</a:t>
            </a:r>
          </a:p>
          <a:p>
            <a:pPr algn="l"/>
            <a:r>
              <a:rPr sz="1200" b="0" i="0">
                <a:solidFill>
                  <a:srgbClr val="FFFFFF"/>
                </a:solidFill>
                <a:latin typeface="Apple SD Gothic Neo"/>
              </a:rPr>
              <a:t>• 생활 문해력 어려움 성인 735만 명</a:t>
            </a:r>
          </a:p>
          <a:p>
            <a:pPr algn="l"/>
            <a:r>
              <a:rPr sz="1200" b="0" i="0">
                <a:solidFill>
                  <a:srgbClr val="FFFFFF"/>
                </a:solidFill>
                <a:latin typeface="Apple SD Gothic Neo"/>
              </a:rPr>
              <a:t>• 외국어와 달리 모국어 어휘 전문 플랫폼 전무</a:t>
            </a:r>
          </a:p>
          <a:p>
            <a:pPr algn="l"/>
            <a:r>
              <a:rPr sz="1200" b="0" i="0">
                <a:solidFill>
                  <a:srgbClr val="FFFFFF"/>
                </a:solidFill>
                <a:latin typeface="Apple SD Gothic Neo"/>
              </a:rPr>
              <a:t>• KAIST에서도 어휘 소통 병목 직접 체감</a:t>
            </a:r>
          </a:p>
        </p:txBody>
      </p:sp>
      <p:sp>
        <p:nvSpPr>
          <p:cNvPr id="11" name="Rectangle 10"/>
          <p:cNvSpPr/>
          <p:nvPr/>
        </p:nvSpPr>
        <p:spPr>
          <a:xfrm>
            <a:off x="4096512" y="1307592"/>
            <a:ext cx="3758184" cy="5294376"/>
          </a:xfrm>
          <a:prstGeom prst="rect">
            <a:avLst/>
          </a:prstGeom>
          <a:solidFill>
            <a:srgbClr val="1A5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79392" y="1435608"/>
            <a:ext cx="3392424" cy="475488"/>
          </a:xfrm>
          <a:prstGeom prst="rect">
            <a:avLst/>
          </a:prstGeom>
          <a:noFill/>
        </p:spPr>
        <p:txBody>
          <a:bodyPr wrap="square">
            <a:spAutoFit/>
          </a:bodyPr>
          <a:lstStyle/>
          <a:p>
            <a:pPr algn="l"/>
            <a:r>
              <a:rPr sz="1500" b="1" i="0">
                <a:solidFill>
                  <a:srgbClr val="FFFFFF"/>
                </a:solidFill>
                <a:latin typeface="Apple SD Gothic Neo"/>
              </a:rPr>
              <a:t>🔵  Solution</a:t>
            </a:r>
          </a:p>
        </p:txBody>
      </p:sp>
      <p:sp>
        <p:nvSpPr>
          <p:cNvPr id="13" name="Rectangle 12"/>
          <p:cNvSpPr/>
          <p:nvPr/>
        </p:nvSpPr>
        <p:spPr>
          <a:xfrm>
            <a:off x="4096512" y="1947672"/>
            <a:ext cx="3758184"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79392" y="2020824"/>
            <a:ext cx="3392424" cy="347472"/>
          </a:xfrm>
          <a:prstGeom prst="rect">
            <a:avLst/>
          </a:prstGeom>
          <a:noFill/>
        </p:spPr>
        <p:txBody>
          <a:bodyPr wrap="square">
            <a:spAutoFit/>
          </a:bodyPr>
          <a:lstStyle/>
          <a:p>
            <a:pPr algn="l"/>
            <a:r>
              <a:rPr sz="1000" b="0" i="1">
                <a:solidFill>
                  <a:srgbClr val="D5ECFF"/>
                </a:solidFill>
                <a:latin typeface="Apple SD Gothic Neo"/>
              </a:rPr>
              <a:t>나의 솔루션</a:t>
            </a:r>
          </a:p>
        </p:txBody>
      </p:sp>
      <p:sp>
        <p:nvSpPr>
          <p:cNvPr id="15" name="TextBox 14"/>
          <p:cNvSpPr txBox="1"/>
          <p:nvPr/>
        </p:nvSpPr>
        <p:spPr>
          <a:xfrm>
            <a:off x="4279392" y="2423160"/>
            <a:ext cx="3392424" cy="4087368"/>
          </a:xfrm>
          <a:prstGeom prst="rect">
            <a:avLst/>
          </a:prstGeom>
          <a:noFill/>
        </p:spPr>
        <p:txBody>
          <a:bodyPr wrap="square">
            <a:spAutoFit/>
          </a:bodyPr>
          <a:lstStyle/>
          <a:p>
            <a:pPr algn="l"/>
            <a:r>
              <a:rPr sz="1200" b="0" i="0">
                <a:solidFill>
                  <a:srgbClr val="FFFFFF"/>
                </a:solidFill>
                <a:latin typeface="Apple SD Gothic Neo"/>
              </a:rPr>
              <a:t>한글마루: AI Agent 기반 한국어 어휘 성장 플랫폼</a:t>
            </a:r>
          </a:p>
          <a:p>
            <a:pPr algn="l"/>
            <a:r>
              <a:rPr sz="1200" b="0" i="0">
                <a:solidFill>
                  <a:srgbClr val="FFFFFF"/>
                </a:solidFill>
                <a:latin typeface="Apple SD Gothic Neo"/>
              </a:rPr>
              <a:t/>
            </a:r>
          </a:p>
          <a:p>
            <a:pPr algn="l"/>
            <a:r>
              <a:rPr sz="1200" b="0" i="0">
                <a:solidFill>
                  <a:srgbClr val="FFFFFF"/>
                </a:solidFill>
                <a:latin typeface="Apple SD Gothic Neo"/>
              </a:rPr>
              <a:t>• 자모 직접 타이핑 빈칸채우기 → 능동적 회상</a:t>
            </a:r>
          </a:p>
          <a:p>
            <a:pPr algn="l"/>
            <a:r>
              <a:rPr sz="1200" b="0" i="0">
                <a:solidFill>
                  <a:srgbClr val="FFFFFF"/>
                </a:solidFill>
                <a:latin typeface="Apple SD Gothic Neo"/>
              </a:rPr>
              <a:t>• 유저 간 실시간 오답 통계 → 메타인지 강화</a:t>
            </a:r>
          </a:p>
          <a:p>
            <a:pPr algn="l"/>
            <a:r>
              <a:rPr sz="1200" b="0" i="0">
                <a:solidFill>
                  <a:srgbClr val="FFFFFF"/>
                </a:solidFill>
                <a:latin typeface="Apple SD Gothic Neo"/>
              </a:rPr>
              <a:t>• 수능·학술·격식·감정별 큐레이션 세션</a:t>
            </a:r>
          </a:p>
          <a:p>
            <a:pPr algn="l"/>
            <a:r>
              <a:rPr sz="1200" b="0" i="0">
                <a:solidFill>
                  <a:srgbClr val="FFFFFF"/>
                </a:solidFill>
                <a:latin typeface="Apple SD Gothic Neo"/>
              </a:rPr>
              <a:t>• iOS · Android MVP 배포 완료</a:t>
            </a:r>
          </a:p>
        </p:txBody>
      </p:sp>
      <p:sp>
        <p:nvSpPr>
          <p:cNvPr id="16" name="Rectangle 15"/>
          <p:cNvSpPr/>
          <p:nvPr/>
        </p:nvSpPr>
        <p:spPr>
          <a:xfrm>
            <a:off x="7991856" y="1307592"/>
            <a:ext cx="3758184" cy="529437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74736" y="1435608"/>
            <a:ext cx="3392424" cy="475488"/>
          </a:xfrm>
          <a:prstGeom prst="rect">
            <a:avLst/>
          </a:prstGeom>
          <a:noFill/>
        </p:spPr>
        <p:txBody>
          <a:bodyPr wrap="square">
            <a:spAutoFit/>
          </a:bodyPr>
          <a:lstStyle/>
          <a:p>
            <a:pPr algn="l"/>
            <a:r>
              <a:rPr sz="1500" b="1" i="0">
                <a:solidFill>
                  <a:srgbClr val="FFFFFF"/>
                </a:solidFill>
                <a:latin typeface="Apple SD Gothic Neo"/>
              </a:rPr>
              <a:t>🟢  AI 활용 역량</a:t>
            </a:r>
          </a:p>
        </p:txBody>
      </p:sp>
      <p:sp>
        <p:nvSpPr>
          <p:cNvPr id="18" name="Rectangle 17"/>
          <p:cNvSpPr/>
          <p:nvPr/>
        </p:nvSpPr>
        <p:spPr>
          <a:xfrm>
            <a:off x="7991856" y="1947672"/>
            <a:ext cx="3758184"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74736" y="2020824"/>
            <a:ext cx="3392424" cy="347472"/>
          </a:xfrm>
          <a:prstGeom prst="rect">
            <a:avLst/>
          </a:prstGeom>
          <a:noFill/>
        </p:spPr>
        <p:txBody>
          <a:bodyPr wrap="square">
            <a:spAutoFit/>
          </a:bodyPr>
          <a:lstStyle/>
          <a:p>
            <a:pPr algn="l"/>
            <a:r>
              <a:rPr sz="1000" b="0" i="1">
                <a:solidFill>
                  <a:srgbClr val="D5ECFF"/>
                </a:solidFill>
                <a:latin typeface="Apple SD Gothic Neo"/>
              </a:rPr>
              <a:t>AI 도메인 전문성 및 활용 계획</a:t>
            </a:r>
          </a:p>
        </p:txBody>
      </p:sp>
      <p:sp>
        <p:nvSpPr>
          <p:cNvPr id="20" name="TextBox 19"/>
          <p:cNvSpPr txBox="1"/>
          <p:nvPr/>
        </p:nvSpPr>
        <p:spPr>
          <a:xfrm>
            <a:off x="8174736" y="2423160"/>
            <a:ext cx="3392424" cy="4087368"/>
          </a:xfrm>
          <a:prstGeom prst="rect">
            <a:avLst/>
          </a:prstGeom>
          <a:noFill/>
        </p:spPr>
        <p:txBody>
          <a:bodyPr wrap="square">
            <a:spAutoFit/>
          </a:bodyPr>
          <a:lstStyle/>
          <a:p>
            <a:pPr algn="l"/>
            <a:r>
              <a:rPr sz="1200" b="0" i="0">
                <a:solidFill>
                  <a:srgbClr val="FFFFFF"/>
                </a:solidFill>
                <a:latin typeface="Apple SD Gothic Neo"/>
              </a:rPr>
              <a:t>Claude API = AI 공동창업자</a:t>
            </a:r>
          </a:p>
          <a:p>
            <a:pPr algn="l"/>
            <a:r>
              <a:rPr sz="1200" b="0" i="0">
                <a:solidFill>
                  <a:srgbClr val="FFFFFF"/>
                </a:solidFill>
                <a:latin typeface="Apple SD Gothic Neo"/>
              </a:rPr>
              <a:t>1인 자동화 파이프라인 구축 완료</a:t>
            </a:r>
          </a:p>
          <a:p>
            <a:pPr algn="l"/>
            <a:r>
              <a:rPr sz="1200" b="0" i="0">
                <a:solidFill>
                  <a:srgbClr val="FFFFFF"/>
                </a:solidFill>
                <a:latin typeface="Apple SD Gothic Neo"/>
              </a:rPr>
              <a:t/>
            </a:r>
          </a:p>
          <a:p>
            <a:pPr algn="l"/>
            <a:r>
              <a:rPr sz="1200" b="0" i="0">
                <a:solidFill>
                  <a:srgbClr val="FFFFFF"/>
                </a:solidFill>
                <a:latin typeface="Apple SD Gothic Neo"/>
              </a:rPr>
              <a:t>• 수능 어휘 662개 예문 자동 생성</a:t>
            </a:r>
          </a:p>
          <a:p>
            <a:pPr algn="l"/>
            <a:r>
              <a:rPr sz="1200" b="0" i="0">
                <a:solidFill>
                  <a:srgbClr val="FFFFFF"/>
                </a:solidFill>
                <a:latin typeface="Apple SD Gothic Neo"/>
              </a:rPr>
              <a:t>• admin.html 검수 + 품질 자동 필터링</a:t>
            </a:r>
          </a:p>
          <a:p>
            <a:pPr algn="l"/>
            <a:r>
              <a:rPr sz="1200" b="0" i="0">
                <a:solidFill>
                  <a:srgbClr val="FFFFFF"/>
                </a:solidFill>
                <a:latin typeface="Apple SD Gothic Neo"/>
              </a:rPr>
              <a:t>• Firestore → 앱 실시간 동기화 스크립트</a:t>
            </a:r>
          </a:p>
          <a:p>
            <a:pPr algn="l"/>
            <a:r>
              <a:rPr sz="1200" b="0" i="0">
                <a:solidFill>
                  <a:srgbClr val="FFFFFF"/>
                </a:solidFill>
                <a:latin typeface="Apple SD Gothic Neo"/>
              </a:rPr>
              <a:t>• 현재 1,189개 큐레이션 단어 서비스 중</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11365992" cy="594360"/>
          </a:xfrm>
          <a:prstGeom prst="rect">
            <a:avLst/>
          </a:prstGeom>
          <a:noFill/>
        </p:spPr>
        <p:txBody>
          <a:bodyPr wrap="square">
            <a:spAutoFit/>
          </a:bodyPr>
          <a:lstStyle/>
          <a:p>
            <a:pPr algn="l"/>
            <a:r>
              <a:rPr sz="2200" b="1" i="0">
                <a:solidFill>
                  <a:srgbClr val="FFFFFF"/>
                </a:solidFill>
                <a:latin typeface="Apple SD Gothic Neo"/>
              </a:rPr>
              <a:t>Problem  |  풀고자 하는 문제</a:t>
            </a:r>
          </a:p>
        </p:txBody>
      </p:sp>
      <p:sp>
        <p:nvSpPr>
          <p:cNvPr id="5" name="TextBox 4"/>
          <p:cNvSpPr txBox="1"/>
          <p:nvPr/>
        </p:nvSpPr>
        <p:spPr>
          <a:xfrm>
            <a:off x="411480" y="658368"/>
            <a:ext cx="11365992" cy="347472"/>
          </a:xfrm>
          <a:prstGeom prst="rect">
            <a:avLst/>
          </a:prstGeom>
          <a:noFill/>
        </p:spPr>
        <p:txBody>
          <a:bodyPr wrap="square">
            <a:spAutoFit/>
          </a:bodyPr>
          <a:lstStyle/>
          <a:p>
            <a:pPr algn="l"/>
            <a:r>
              <a:rPr sz="1200" b="0" i="1">
                <a:solidFill>
                  <a:srgbClr val="ADC6E5"/>
                </a:solidFill>
                <a:latin typeface="Apple SD Gothic Neo"/>
              </a:rPr>
              <a:t>1 / 2  —  시대적 배경 · 시장 현황</a:t>
            </a:r>
          </a:p>
        </p:txBody>
      </p:sp>
      <p:sp>
        <p:nvSpPr>
          <p:cNvPr id="6" name="Rectangle 5"/>
          <p:cNvSpPr/>
          <p:nvPr/>
        </p:nvSpPr>
        <p:spPr>
          <a:xfrm>
            <a:off x="0" y="1051560"/>
            <a:ext cx="73152" cy="58064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1216152"/>
            <a:ext cx="11823192" cy="365760"/>
          </a:xfrm>
          <a:prstGeom prst="rect">
            <a:avLst/>
          </a:prstGeom>
          <a:noFill/>
        </p:spPr>
        <p:txBody>
          <a:bodyPr wrap="square">
            <a:spAutoFit/>
          </a:bodyPr>
          <a:lstStyle/>
          <a:p>
            <a:pPr algn="l"/>
            <a:r>
              <a:rPr sz="1500" b="1" i="0">
                <a:solidFill>
                  <a:srgbClr val="C0392B"/>
                </a:solidFill>
                <a:latin typeface="Apple SD Gothic Neo"/>
              </a:rPr>
              <a:t>① 시대적 배경 — AI가 언어력 격차를 심화시킨다</a:t>
            </a:r>
          </a:p>
        </p:txBody>
      </p:sp>
      <p:sp>
        <p:nvSpPr>
          <p:cNvPr id="8" name="TextBox 7"/>
          <p:cNvSpPr txBox="1"/>
          <p:nvPr/>
        </p:nvSpPr>
        <p:spPr>
          <a:xfrm>
            <a:off x="228600" y="1636776"/>
            <a:ext cx="11823192" cy="777240"/>
          </a:xfrm>
          <a:prstGeom prst="rect">
            <a:avLst/>
          </a:prstGeom>
          <a:noFill/>
        </p:spPr>
        <p:txBody>
          <a:bodyPr wrap="square">
            <a:spAutoFit/>
          </a:bodyPr>
          <a:lstStyle/>
          <a:p>
            <a:pPr algn="l"/>
            <a:r>
              <a:rPr sz="1300" b="0" i="0">
                <a:solidFill>
                  <a:srgbClr val="4A5A6A"/>
                </a:solidFill>
                <a:latin typeface="Apple SD Gothic Neo"/>
              </a:rPr>
              <a:t>AI 보편화로 단순 실행력은 자동화되는 반면, 결과를 꿰뚫는 언어 구사력과 인문학적 사고력이 핵심 역량으로 재부상합니다. AI와 소통하는 프롬프트 작성에서도 의도를 정확히 언어화하는 능력은 기술적 기량이 됩니다. 인공지능은 매일 수십억 개의 단어를 학습하며 똑똑해지는데, 우리는 '심심한 사과'의 뜻을 몰라 검색창을 헤매고 있습니다.</a:t>
            </a:r>
          </a:p>
        </p:txBody>
      </p:sp>
      <p:sp>
        <p:nvSpPr>
          <p:cNvPr id="9" name="Rectangle 8"/>
          <p:cNvSpPr/>
          <p:nvPr/>
        </p:nvSpPr>
        <p:spPr>
          <a:xfrm>
            <a:off x="228600" y="2478024"/>
            <a:ext cx="11823192" cy="36576"/>
          </a:xfrm>
          <a:prstGeom prst="rect">
            <a:avLst/>
          </a:prstGeom>
          <a:solidFill>
            <a:srgbClr val="BDC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 y="2587752"/>
            <a:ext cx="11823192" cy="365760"/>
          </a:xfrm>
          <a:prstGeom prst="rect">
            <a:avLst/>
          </a:prstGeom>
          <a:noFill/>
        </p:spPr>
        <p:txBody>
          <a:bodyPr wrap="square">
            <a:spAutoFit/>
          </a:bodyPr>
          <a:lstStyle/>
          <a:p>
            <a:pPr algn="l"/>
            <a:r>
              <a:rPr sz="1500" b="1" i="0">
                <a:solidFill>
                  <a:srgbClr val="C0392B"/>
                </a:solidFill>
                <a:latin typeface="Apple SD Gothic Neo"/>
              </a:rPr>
              <a:t>② 시장 현황 — 어휘력 위기는 수치로 증명된다</a:t>
            </a:r>
          </a:p>
        </p:txBody>
      </p:sp>
      <p:sp>
        <p:nvSpPr>
          <p:cNvPr id="11" name="Rectangle 10"/>
          <p:cNvSpPr/>
          <p:nvPr/>
        </p:nvSpPr>
        <p:spPr>
          <a:xfrm>
            <a:off x="201168" y="3044952"/>
            <a:ext cx="2743200" cy="2377440"/>
          </a:xfrm>
          <a:prstGeom prst="rect">
            <a:avLst/>
          </a:prstGeom>
          <a:solidFill>
            <a:srgbClr val="FF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1168" y="3044952"/>
            <a:ext cx="2743200" cy="7315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8" y="3182112"/>
            <a:ext cx="2743200" cy="868680"/>
          </a:xfrm>
          <a:prstGeom prst="rect">
            <a:avLst/>
          </a:prstGeom>
          <a:noFill/>
        </p:spPr>
        <p:txBody>
          <a:bodyPr wrap="square">
            <a:spAutoFit/>
          </a:bodyPr>
          <a:lstStyle/>
          <a:p>
            <a:pPr algn="ctr"/>
            <a:r>
              <a:rPr sz="2600" b="1" i="0">
                <a:solidFill>
                  <a:srgbClr val="C0392B"/>
                </a:solidFill>
                <a:latin typeface="Apple SD Gothic Neo"/>
              </a:rPr>
              <a:t>30%</a:t>
            </a:r>
          </a:p>
        </p:txBody>
      </p:sp>
      <p:sp>
        <p:nvSpPr>
          <p:cNvPr id="14" name="TextBox 13"/>
          <p:cNvSpPr txBox="1"/>
          <p:nvPr/>
        </p:nvSpPr>
        <p:spPr>
          <a:xfrm>
            <a:off x="201168" y="4050792"/>
            <a:ext cx="2743200" cy="1280160"/>
          </a:xfrm>
          <a:prstGeom prst="rect">
            <a:avLst/>
          </a:prstGeom>
          <a:noFill/>
        </p:spPr>
        <p:txBody>
          <a:bodyPr wrap="square">
            <a:spAutoFit/>
          </a:bodyPr>
          <a:lstStyle/>
          <a:p>
            <a:pPr algn="ctr"/>
            <a:r>
              <a:rPr sz="1200" b="0" i="0">
                <a:solidFill>
                  <a:srgbClr val="4A5A6A"/>
                </a:solidFill>
                <a:latin typeface="Apple SD Gothic Neo"/>
              </a:rPr>
              <a:t>서울 고1 학생 중</a:t>
            </a:r>
          </a:p>
          <a:p>
            <a:pPr algn="ctr"/>
            <a:r>
              <a:rPr sz="1200" b="0" i="0">
                <a:solidFill>
                  <a:srgbClr val="4A5A6A"/>
                </a:solidFill>
                <a:latin typeface="Apple SD Gothic Neo"/>
              </a:rPr>
              <a:t>기초 문해력 미달</a:t>
            </a:r>
          </a:p>
          <a:p>
            <a:pPr algn="ctr"/>
            <a:r>
              <a:rPr sz="1200" b="0" i="0">
                <a:solidFill>
                  <a:srgbClr val="4A5A6A"/>
                </a:solidFill>
                <a:latin typeface="Apple SD Gothic Neo"/>
              </a:rPr>
              <a:t>(교육청 진단검사)</a:t>
            </a:r>
          </a:p>
        </p:txBody>
      </p:sp>
      <p:sp>
        <p:nvSpPr>
          <p:cNvPr id="15" name="Rectangle 14"/>
          <p:cNvSpPr/>
          <p:nvPr/>
        </p:nvSpPr>
        <p:spPr>
          <a:xfrm>
            <a:off x="3136392" y="3044952"/>
            <a:ext cx="2743200" cy="2377440"/>
          </a:xfrm>
          <a:prstGeom prst="rect">
            <a:avLst/>
          </a:prstGeom>
          <a:solidFill>
            <a:srgbClr val="FF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136392" y="3044952"/>
            <a:ext cx="2743200" cy="7315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36392" y="3182112"/>
            <a:ext cx="2743200" cy="868680"/>
          </a:xfrm>
          <a:prstGeom prst="rect">
            <a:avLst/>
          </a:prstGeom>
          <a:noFill/>
        </p:spPr>
        <p:txBody>
          <a:bodyPr wrap="square">
            <a:spAutoFit/>
          </a:bodyPr>
          <a:lstStyle/>
          <a:p>
            <a:pPr algn="ctr"/>
            <a:r>
              <a:rPr sz="2600" b="1" i="0">
                <a:solidFill>
                  <a:srgbClr val="C0392B"/>
                </a:solidFill>
                <a:latin typeface="Apple SD Gothic Neo"/>
              </a:rPr>
              <a:t>25%</a:t>
            </a:r>
          </a:p>
        </p:txBody>
      </p:sp>
      <p:sp>
        <p:nvSpPr>
          <p:cNvPr id="18" name="TextBox 17"/>
          <p:cNvSpPr txBox="1"/>
          <p:nvPr/>
        </p:nvSpPr>
        <p:spPr>
          <a:xfrm>
            <a:off x="3136392" y="4050792"/>
            <a:ext cx="2743200" cy="1280160"/>
          </a:xfrm>
          <a:prstGeom prst="rect">
            <a:avLst/>
          </a:prstGeom>
          <a:noFill/>
        </p:spPr>
        <p:txBody>
          <a:bodyPr wrap="square">
            <a:spAutoFit/>
          </a:bodyPr>
          <a:lstStyle/>
          <a:p>
            <a:pPr algn="ctr"/>
            <a:r>
              <a:rPr sz="1200" b="0" i="0">
                <a:solidFill>
                  <a:srgbClr val="4A5A6A"/>
                </a:solidFill>
                <a:latin typeface="Apple SD Gothic Neo"/>
              </a:rPr>
              <a:t>중2 학생 중</a:t>
            </a:r>
          </a:p>
          <a:p>
            <a:pPr algn="ctr"/>
            <a:r>
              <a:rPr sz="1200" b="0" i="0">
                <a:solidFill>
                  <a:srgbClr val="4A5A6A"/>
                </a:solidFill>
                <a:latin typeface="Apple SD Gothic Neo"/>
              </a:rPr>
              <a:t>수업 이해 불가 수준</a:t>
            </a:r>
          </a:p>
          <a:p>
            <a:pPr algn="ctr"/>
            <a:r>
              <a:rPr sz="1200" b="0" i="0">
                <a:solidFill>
                  <a:srgbClr val="4A5A6A"/>
                </a:solidFill>
                <a:latin typeface="Apple SD Gothic Neo"/>
              </a:rPr>
              <a:t>(서울시 교육청)</a:t>
            </a:r>
          </a:p>
        </p:txBody>
      </p:sp>
      <p:sp>
        <p:nvSpPr>
          <p:cNvPr id="19" name="Rectangle 18"/>
          <p:cNvSpPr/>
          <p:nvPr/>
        </p:nvSpPr>
        <p:spPr>
          <a:xfrm>
            <a:off x="6071616" y="3044952"/>
            <a:ext cx="2743200" cy="2377440"/>
          </a:xfrm>
          <a:prstGeom prst="rect">
            <a:avLst/>
          </a:prstGeom>
          <a:solidFill>
            <a:srgbClr val="FF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71616" y="3044952"/>
            <a:ext cx="2743200" cy="7315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71616" y="3182112"/>
            <a:ext cx="2743200" cy="868680"/>
          </a:xfrm>
          <a:prstGeom prst="rect">
            <a:avLst/>
          </a:prstGeom>
          <a:noFill/>
        </p:spPr>
        <p:txBody>
          <a:bodyPr wrap="square">
            <a:spAutoFit/>
          </a:bodyPr>
          <a:lstStyle/>
          <a:p>
            <a:pPr algn="ctr"/>
            <a:r>
              <a:rPr sz="2600" b="1" i="0">
                <a:solidFill>
                  <a:srgbClr val="C0392B"/>
                </a:solidFill>
                <a:latin typeface="Apple SD Gothic Neo"/>
              </a:rPr>
              <a:t>735만 명</a:t>
            </a:r>
          </a:p>
        </p:txBody>
      </p:sp>
      <p:sp>
        <p:nvSpPr>
          <p:cNvPr id="22" name="TextBox 21"/>
          <p:cNvSpPr txBox="1"/>
          <p:nvPr/>
        </p:nvSpPr>
        <p:spPr>
          <a:xfrm>
            <a:off x="6071616" y="4050792"/>
            <a:ext cx="2743200" cy="1280160"/>
          </a:xfrm>
          <a:prstGeom prst="rect">
            <a:avLst/>
          </a:prstGeom>
          <a:noFill/>
        </p:spPr>
        <p:txBody>
          <a:bodyPr wrap="square">
            <a:spAutoFit/>
          </a:bodyPr>
          <a:lstStyle/>
          <a:p>
            <a:pPr algn="ctr"/>
            <a:r>
              <a:rPr sz="1200" b="0" i="0">
                <a:solidFill>
                  <a:srgbClr val="4A5A6A"/>
                </a:solidFill>
                <a:latin typeface="Apple SD Gothic Neo"/>
              </a:rPr>
              <a:t>생활 문해력에</a:t>
            </a:r>
          </a:p>
          <a:p>
            <a:pPr algn="ctr"/>
            <a:r>
              <a:rPr sz="1200" b="0" i="0">
                <a:solidFill>
                  <a:srgbClr val="4A5A6A"/>
                </a:solidFill>
                <a:latin typeface="Apple SD Gothic Neo"/>
              </a:rPr>
              <a:t>어려움 겪는 성인</a:t>
            </a:r>
          </a:p>
          <a:p>
            <a:pPr algn="ctr"/>
            <a:r>
              <a:rPr sz="1200" b="0" i="0">
                <a:solidFill>
                  <a:srgbClr val="4A5A6A"/>
                </a:solidFill>
                <a:latin typeface="Apple SD Gothic Neo"/>
              </a:rPr>
              <a:t>(한국교육개발원)</a:t>
            </a:r>
          </a:p>
        </p:txBody>
      </p:sp>
      <p:sp>
        <p:nvSpPr>
          <p:cNvPr id="23" name="Rectangle 22"/>
          <p:cNvSpPr/>
          <p:nvPr/>
        </p:nvSpPr>
        <p:spPr>
          <a:xfrm>
            <a:off x="9006840" y="3044952"/>
            <a:ext cx="2743200" cy="2377440"/>
          </a:xfrm>
          <a:prstGeom prst="rect">
            <a:avLst/>
          </a:prstGeom>
          <a:solidFill>
            <a:srgbClr val="FF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06840" y="3044952"/>
            <a:ext cx="2743200" cy="7315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06840" y="3182112"/>
            <a:ext cx="2743200" cy="868680"/>
          </a:xfrm>
          <a:prstGeom prst="rect">
            <a:avLst/>
          </a:prstGeom>
          <a:noFill/>
        </p:spPr>
        <p:txBody>
          <a:bodyPr wrap="square">
            <a:spAutoFit/>
          </a:bodyPr>
          <a:lstStyle/>
          <a:p>
            <a:pPr algn="ctr"/>
            <a:r>
              <a:rPr sz="2600" b="1" i="0">
                <a:solidFill>
                  <a:srgbClr val="C0392B"/>
                </a:solidFill>
                <a:latin typeface="Apple SD Gothic Neo"/>
              </a:rPr>
              <a:t>KAIST</a:t>
            </a:r>
          </a:p>
          <a:p>
            <a:pPr algn="ctr"/>
            <a:r>
              <a:rPr sz="2600" b="1" i="0">
                <a:solidFill>
                  <a:srgbClr val="C0392B"/>
                </a:solidFill>
                <a:latin typeface="Apple SD Gothic Neo"/>
              </a:rPr>
              <a:t>체감</a:t>
            </a:r>
          </a:p>
        </p:txBody>
      </p:sp>
      <p:sp>
        <p:nvSpPr>
          <p:cNvPr id="26" name="TextBox 25"/>
          <p:cNvSpPr txBox="1"/>
          <p:nvPr/>
        </p:nvSpPr>
        <p:spPr>
          <a:xfrm>
            <a:off x="9006840" y="4050792"/>
            <a:ext cx="2743200" cy="1280160"/>
          </a:xfrm>
          <a:prstGeom prst="rect">
            <a:avLst/>
          </a:prstGeom>
          <a:noFill/>
        </p:spPr>
        <p:txBody>
          <a:bodyPr wrap="square">
            <a:spAutoFit/>
          </a:bodyPr>
          <a:lstStyle/>
          <a:p>
            <a:pPr algn="ctr"/>
            <a:r>
              <a:rPr sz="1200" b="0" i="0">
                <a:solidFill>
                  <a:srgbClr val="4A5A6A"/>
                </a:solidFill>
                <a:latin typeface="Apple SD Gothic Neo"/>
              </a:rPr>
              <a:t>이공계 최고 두뇌도</a:t>
            </a:r>
          </a:p>
          <a:p>
            <a:pPr algn="ctr"/>
            <a:r>
              <a:rPr sz="1200" b="0" i="0">
                <a:solidFill>
                  <a:srgbClr val="4A5A6A"/>
                </a:solidFill>
                <a:latin typeface="Apple SD Gothic Neo"/>
              </a:rPr>
              <a:t>어휘 부족으로</a:t>
            </a:r>
          </a:p>
          <a:p>
            <a:pPr algn="ctr"/>
            <a:r>
              <a:rPr sz="1200" b="0" i="0">
                <a:solidFill>
                  <a:srgbClr val="4A5A6A"/>
                </a:solidFill>
                <a:latin typeface="Apple SD Gothic Neo"/>
              </a:rPr>
              <a:t>소통 병목 경험</a:t>
            </a:r>
          </a:p>
        </p:txBody>
      </p:sp>
      <p:sp>
        <p:nvSpPr>
          <p:cNvPr id="27" name="TextBox 26"/>
          <p:cNvSpPr txBox="1"/>
          <p:nvPr/>
        </p:nvSpPr>
        <p:spPr>
          <a:xfrm>
            <a:off x="228600" y="6446520"/>
            <a:ext cx="11823192" cy="347472"/>
          </a:xfrm>
          <a:prstGeom prst="rect">
            <a:avLst/>
          </a:prstGeom>
          <a:noFill/>
        </p:spPr>
        <p:txBody>
          <a:bodyPr wrap="square">
            <a:spAutoFit/>
          </a:bodyPr>
          <a:lstStyle/>
          <a:p>
            <a:pPr algn="l"/>
            <a:r>
              <a:rPr sz="1000" b="0" i="0">
                <a:solidFill>
                  <a:srgbClr val="BDC3C7"/>
                </a:solidFill>
                <a:latin typeface="Apple SD Gothic Neo"/>
              </a:rPr>
              <a:t>출처: 서울시 교육청 진단검사 보고서, 한국교육개발원 성인문해능력조사</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11365992" cy="594360"/>
          </a:xfrm>
          <a:prstGeom prst="rect">
            <a:avLst/>
          </a:prstGeom>
          <a:noFill/>
        </p:spPr>
        <p:txBody>
          <a:bodyPr wrap="square">
            <a:spAutoFit/>
          </a:bodyPr>
          <a:lstStyle/>
          <a:p>
            <a:pPr algn="l"/>
            <a:r>
              <a:rPr sz="2200" b="1" i="0">
                <a:solidFill>
                  <a:srgbClr val="FFFFFF"/>
                </a:solidFill>
                <a:latin typeface="Apple SD Gothic Neo"/>
              </a:rPr>
              <a:t>Problem  |  풀고자 하는 문제</a:t>
            </a:r>
          </a:p>
        </p:txBody>
      </p:sp>
      <p:sp>
        <p:nvSpPr>
          <p:cNvPr id="5" name="TextBox 4"/>
          <p:cNvSpPr txBox="1"/>
          <p:nvPr/>
        </p:nvSpPr>
        <p:spPr>
          <a:xfrm>
            <a:off x="411480" y="658368"/>
            <a:ext cx="11365992" cy="347472"/>
          </a:xfrm>
          <a:prstGeom prst="rect">
            <a:avLst/>
          </a:prstGeom>
          <a:noFill/>
        </p:spPr>
        <p:txBody>
          <a:bodyPr wrap="square">
            <a:spAutoFit/>
          </a:bodyPr>
          <a:lstStyle/>
          <a:p>
            <a:pPr algn="l"/>
            <a:r>
              <a:rPr sz="1200" b="0" i="1">
                <a:solidFill>
                  <a:srgbClr val="ADC6E5"/>
                </a:solidFill>
                <a:latin typeface="Apple SD Gothic Neo"/>
              </a:rPr>
              <a:t>2 / 2  —  시장 공백 분석</a:t>
            </a:r>
          </a:p>
        </p:txBody>
      </p:sp>
      <p:sp>
        <p:nvSpPr>
          <p:cNvPr id="6" name="Rectangle 5"/>
          <p:cNvSpPr/>
          <p:nvPr/>
        </p:nvSpPr>
        <p:spPr>
          <a:xfrm>
            <a:off x="0" y="1051560"/>
            <a:ext cx="73152" cy="58064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1216152"/>
            <a:ext cx="11823192" cy="365760"/>
          </a:xfrm>
          <a:prstGeom prst="rect">
            <a:avLst/>
          </a:prstGeom>
          <a:noFill/>
        </p:spPr>
        <p:txBody>
          <a:bodyPr wrap="square">
            <a:spAutoFit/>
          </a:bodyPr>
          <a:lstStyle/>
          <a:p>
            <a:pPr algn="l"/>
            <a:r>
              <a:rPr sz="1500" b="1" i="0">
                <a:solidFill>
                  <a:srgbClr val="C0392B"/>
                </a:solidFill>
                <a:latin typeface="Apple SD Gothic Neo"/>
              </a:rPr>
              <a:t>③ 시장 공백 — 외국어는 넘치고, 모국어 어휘 전문 플랫폼은 전무하다</a:t>
            </a:r>
          </a:p>
        </p:txBody>
      </p:sp>
      <p:graphicFrame>
        <p:nvGraphicFramePr>
          <p:cNvPr id="8" name="Table 7"/>
          <p:cNvGraphicFramePr>
            <a:graphicFrameLocks noGrp="1"/>
          </p:cNvGraphicFramePr>
          <p:nvPr/>
        </p:nvGraphicFramePr>
        <p:xfrm>
          <a:off x="201168" y="1645920"/>
          <a:ext cx="11521440" cy="3383280"/>
        </p:xfrm>
        <a:graphic>
          <a:graphicData uri="http://schemas.openxmlformats.org/drawingml/2006/table">
            <a:tbl>
              <a:tblPr firstRow="1" bandRow="1">
                <a:tableStyleId>{5C22544A-7EE6-4342-B048-85BDC9FD1C3A}</a:tableStyleId>
              </a:tblPr>
              <a:tblGrid>
                <a:gridCol w="2011680"/>
                <a:gridCol w="5303520"/>
                <a:gridCol w="4206240"/>
              </a:tblGrid>
              <a:tr h="563880">
                <a:tc>
                  <a:txBody>
                    <a:bodyPr wrap="square"/>
                    <a:lstStyle/>
                    <a:p>
                      <a:pPr algn="ctr"/>
                      <a:r>
                        <a:rPr sz="1300" b="1">
                          <a:solidFill>
                            <a:srgbClr val="FFFFFF"/>
                          </a:solidFill>
                          <a:latin typeface="Apple SD Gothic Neo"/>
                        </a:rPr>
                        <a:t>구분</a:t>
                      </a:r>
                    </a:p>
                  </a:txBody>
                  <a:tcPr>
                    <a:solidFill>
                      <a:srgbClr val="0D2644"/>
                    </a:solidFill>
                  </a:tcPr>
                </a:tc>
                <a:tc>
                  <a:txBody>
                    <a:bodyPr wrap="square"/>
                    <a:lstStyle/>
                    <a:p>
                      <a:pPr algn="ctr"/>
                      <a:r>
                        <a:rPr sz="1300" b="1">
                          <a:solidFill>
                            <a:srgbClr val="FFFFFF"/>
                          </a:solidFill>
                          <a:latin typeface="Apple SD Gothic Neo"/>
                        </a:rPr>
                        <a:t>외국어 학습 시장 (영어)</a:t>
                      </a:r>
                    </a:p>
                  </a:txBody>
                  <a:tcPr>
                    <a:solidFill>
                      <a:srgbClr val="0D2644"/>
                    </a:solidFill>
                  </a:tcPr>
                </a:tc>
                <a:tc>
                  <a:txBody>
                    <a:bodyPr wrap="square"/>
                    <a:lstStyle/>
                    <a:p>
                      <a:pPr algn="ctr"/>
                      <a:r>
                        <a:rPr sz="1300" b="1">
                          <a:solidFill>
                            <a:srgbClr val="FFFFFF"/>
                          </a:solidFill>
                          <a:latin typeface="Apple SD Gothic Neo"/>
                        </a:rPr>
                        <a:t>한국어 어휘 학습 (현황)</a:t>
                      </a:r>
                    </a:p>
                  </a:txBody>
                  <a:tcPr>
                    <a:solidFill>
                      <a:srgbClr val="0D2644"/>
                    </a:solidFill>
                  </a:tcPr>
                </a:tc>
              </a:tr>
              <a:tr h="563880">
                <a:tc>
                  <a:txBody>
                    <a:bodyPr wrap="square"/>
                    <a:lstStyle/>
                    <a:p>
                      <a:pPr algn="l"/>
                      <a:r>
                        <a:rPr sz="1200" b="1">
                          <a:solidFill>
                            <a:srgbClr val="1A1A2E"/>
                          </a:solidFill>
                          <a:latin typeface="Apple SD Gothic Neo"/>
                        </a:rPr>
                        <a:t>대표 서비스</a:t>
                      </a:r>
                    </a:p>
                  </a:txBody>
                  <a:tcPr>
                    <a:solidFill>
                      <a:srgbClr val="E8E8F0"/>
                    </a:solidFill>
                  </a:tcPr>
                </a:tc>
                <a:tc>
                  <a:txBody>
                    <a:bodyPr wrap="square"/>
                    <a:lstStyle/>
                    <a:p>
                      <a:pPr algn="l"/>
                      <a:r>
                        <a:rPr sz="1200" b="0">
                          <a:solidFill>
                            <a:srgbClr val="4A5A6A"/>
                          </a:solidFill>
                          <a:latin typeface="Apple SD Gothic Neo"/>
                        </a:rPr>
                        <a:t>Duolingo, Quizlet, 클래스101 등 수백 개</a:t>
                      </a:r>
                    </a:p>
                  </a:txBody>
                  <a:tcPr>
                    <a:solidFill>
                      <a:srgbClr val="FFFFFF"/>
                    </a:solidFill>
                  </a:tcPr>
                </a:tc>
                <a:tc>
                  <a:txBody>
                    <a:bodyPr wrap="square"/>
                    <a:lstStyle/>
                    <a:p>
                      <a:pPr algn="l"/>
                      <a:r>
                        <a:rPr sz="1200" b="0">
                          <a:solidFill>
                            <a:srgbClr val="C0392B"/>
                          </a:solidFill>
                          <a:latin typeface="Apple SD Gothic Neo"/>
                        </a:rPr>
                        <a:t>전무 (단순 검색 도구 수준)</a:t>
                      </a:r>
                    </a:p>
                  </a:txBody>
                  <a:tcPr>
                    <a:solidFill>
                      <a:srgbClr val="FFFFFF"/>
                    </a:solidFill>
                  </a:tcPr>
                </a:tc>
              </a:tr>
              <a:tr h="563880">
                <a:tc>
                  <a:txBody>
                    <a:bodyPr wrap="square"/>
                    <a:lstStyle/>
                    <a:p>
                      <a:pPr algn="l"/>
                      <a:r>
                        <a:rPr sz="1200" b="1">
                          <a:solidFill>
                            <a:srgbClr val="1A1A2E"/>
                          </a:solidFill>
                          <a:latin typeface="Apple SD Gothic Neo"/>
                        </a:rPr>
                        <a:t>학습 방식</a:t>
                      </a:r>
                    </a:p>
                  </a:txBody>
                  <a:tcPr>
                    <a:solidFill>
                      <a:srgbClr val="F0F0F5"/>
                    </a:solidFill>
                  </a:tcPr>
                </a:tc>
                <a:tc>
                  <a:txBody>
                    <a:bodyPr wrap="square"/>
                    <a:lstStyle/>
                    <a:p>
                      <a:pPr algn="l"/>
                      <a:r>
                        <a:rPr sz="1200" b="0">
                          <a:solidFill>
                            <a:srgbClr val="4A5A6A"/>
                          </a:solidFill>
                          <a:latin typeface="Apple SD Gothic Neo"/>
                        </a:rPr>
                        <a:t>문맥 기반, 게이미피케이션, SRS 알고리즘</a:t>
                      </a:r>
                    </a:p>
                  </a:txBody>
                  <a:tcPr>
                    <a:solidFill>
                      <a:srgbClr val="F4F6F8"/>
                    </a:solidFill>
                  </a:tcPr>
                </a:tc>
                <a:tc>
                  <a:txBody>
                    <a:bodyPr wrap="square"/>
                    <a:lstStyle/>
                    <a:p>
                      <a:pPr algn="l"/>
                      <a:r>
                        <a:rPr sz="1200" b="0">
                          <a:solidFill>
                            <a:srgbClr val="C0392B"/>
                          </a:solidFill>
                          <a:latin typeface="Apple SD Gothic Neo"/>
                        </a:rPr>
                        <a:t>없음</a:t>
                      </a:r>
                    </a:p>
                  </a:txBody>
                  <a:tcPr>
                    <a:solidFill>
                      <a:srgbClr val="FFF5F5"/>
                    </a:solidFill>
                  </a:tcPr>
                </a:tc>
              </a:tr>
              <a:tr h="563880">
                <a:tc>
                  <a:txBody>
                    <a:bodyPr wrap="square"/>
                    <a:lstStyle/>
                    <a:p>
                      <a:pPr algn="l"/>
                      <a:r>
                        <a:rPr sz="1200" b="1">
                          <a:solidFill>
                            <a:srgbClr val="1A1A2E"/>
                          </a:solidFill>
                          <a:latin typeface="Apple SD Gothic Neo"/>
                        </a:rPr>
                        <a:t>개인화</a:t>
                      </a:r>
                    </a:p>
                  </a:txBody>
                  <a:tcPr>
                    <a:solidFill>
                      <a:srgbClr val="E8E8F0"/>
                    </a:solidFill>
                  </a:tcPr>
                </a:tc>
                <a:tc>
                  <a:txBody>
                    <a:bodyPr wrap="square"/>
                    <a:lstStyle/>
                    <a:p>
                      <a:pPr algn="l"/>
                      <a:r>
                        <a:rPr sz="1200" b="0">
                          <a:solidFill>
                            <a:srgbClr val="4A5A6A"/>
                          </a:solidFill>
                          <a:latin typeface="Apple SD Gothic Neo"/>
                        </a:rPr>
                        <a:t>오답 분석, 맞춤형 복습 스케줄</a:t>
                      </a:r>
                    </a:p>
                  </a:txBody>
                  <a:tcPr>
                    <a:solidFill>
                      <a:srgbClr val="FFFFFF"/>
                    </a:solidFill>
                  </a:tcPr>
                </a:tc>
                <a:tc>
                  <a:txBody>
                    <a:bodyPr wrap="square"/>
                    <a:lstStyle/>
                    <a:p>
                      <a:pPr algn="l"/>
                      <a:r>
                        <a:rPr sz="1200" b="0">
                          <a:solidFill>
                            <a:srgbClr val="C0392B"/>
                          </a:solidFill>
                          <a:latin typeface="Apple SD Gothic Neo"/>
                        </a:rPr>
                        <a:t>없음</a:t>
                      </a:r>
                    </a:p>
                  </a:txBody>
                  <a:tcPr>
                    <a:solidFill>
                      <a:srgbClr val="FFFFFF"/>
                    </a:solidFill>
                  </a:tcPr>
                </a:tc>
              </a:tr>
              <a:tr h="563880">
                <a:tc>
                  <a:txBody>
                    <a:bodyPr wrap="square"/>
                    <a:lstStyle/>
                    <a:p>
                      <a:pPr algn="l"/>
                      <a:r>
                        <a:rPr sz="1200" b="1">
                          <a:solidFill>
                            <a:srgbClr val="1A1A2E"/>
                          </a:solidFill>
                          <a:latin typeface="Apple SD Gothic Neo"/>
                        </a:rPr>
                        <a:t>시장 규모</a:t>
                      </a:r>
                    </a:p>
                  </a:txBody>
                  <a:tcPr>
                    <a:solidFill>
                      <a:srgbClr val="F0F0F5"/>
                    </a:solidFill>
                  </a:tcPr>
                </a:tc>
                <a:tc>
                  <a:txBody>
                    <a:bodyPr wrap="square"/>
                    <a:lstStyle/>
                    <a:p>
                      <a:pPr algn="l"/>
                      <a:r>
                        <a:rPr sz="1200" b="0">
                          <a:solidFill>
                            <a:srgbClr val="4A5A6A"/>
                          </a:solidFill>
                          <a:latin typeface="Apple SD Gothic Neo"/>
                        </a:rPr>
                        <a:t>국내 영어교육 시장 4조 원+</a:t>
                      </a:r>
                    </a:p>
                  </a:txBody>
                  <a:tcPr>
                    <a:solidFill>
                      <a:srgbClr val="F4F6F8"/>
                    </a:solidFill>
                  </a:tcPr>
                </a:tc>
                <a:tc>
                  <a:txBody>
                    <a:bodyPr wrap="square"/>
                    <a:lstStyle/>
                    <a:p>
                      <a:pPr algn="l"/>
                      <a:r>
                        <a:rPr sz="1200" b="0">
                          <a:solidFill>
                            <a:srgbClr val="C0392B"/>
                          </a:solidFill>
                          <a:latin typeface="Apple SD Gothic Neo"/>
                        </a:rPr>
                        <a:t>미개척 블루오션</a:t>
                      </a:r>
                    </a:p>
                  </a:txBody>
                  <a:tcPr>
                    <a:solidFill>
                      <a:srgbClr val="FFF5F5"/>
                    </a:solidFill>
                  </a:tcPr>
                </a:tc>
              </a:tr>
              <a:tr h="563880">
                <a:tc>
                  <a:txBody>
                    <a:bodyPr wrap="square"/>
                    <a:lstStyle/>
                    <a:p>
                      <a:pPr algn="l"/>
                      <a:r>
                        <a:rPr sz="1200" b="1">
                          <a:solidFill>
                            <a:srgbClr val="1A1A2E"/>
                          </a:solidFill>
                          <a:latin typeface="Apple SD Gothic Neo"/>
                        </a:rPr>
                        <a:t>잠재 수요</a:t>
                      </a:r>
                    </a:p>
                  </a:txBody>
                  <a:tcPr>
                    <a:solidFill>
                      <a:srgbClr val="E8E8F0"/>
                    </a:solidFill>
                  </a:tcPr>
                </a:tc>
                <a:tc>
                  <a:txBody>
                    <a:bodyPr wrap="square"/>
                    <a:lstStyle/>
                    <a:p>
                      <a:pPr algn="l"/>
                      <a:r>
                        <a:rPr sz="1200" b="0">
                          <a:solidFill>
                            <a:srgbClr val="4A5A6A"/>
                          </a:solidFill>
                          <a:latin typeface="Apple SD Gothic Neo"/>
                        </a:rPr>
                        <a:t>─</a:t>
                      </a:r>
                    </a:p>
                  </a:txBody>
                  <a:tcPr>
                    <a:solidFill>
                      <a:srgbClr val="FFFFFF"/>
                    </a:solidFill>
                  </a:tcPr>
                </a:tc>
                <a:tc>
                  <a:txBody>
                    <a:bodyPr wrap="square"/>
                    <a:lstStyle/>
                    <a:p>
                      <a:pPr algn="l"/>
                      <a:r>
                        <a:rPr sz="1200" b="0">
                          <a:solidFill>
                            <a:srgbClr val="C0392B"/>
                          </a:solidFill>
                          <a:latin typeface="Apple SD Gothic Neo"/>
                        </a:rPr>
                        <a:t>생활 문해력 어려움 성인 735만 명</a:t>
                      </a:r>
                    </a:p>
                  </a:txBody>
                  <a:tcPr>
                    <a:solidFill>
                      <a:srgbClr val="FFFFFF"/>
                    </a:solidFill>
                  </a:tcPr>
                </a:tc>
              </a:tr>
            </a:tbl>
          </a:graphicData>
        </a:graphic>
      </p:graphicFrame>
      <p:sp>
        <p:nvSpPr>
          <p:cNvPr id="9" name="Rectangle 8"/>
          <p:cNvSpPr/>
          <p:nvPr/>
        </p:nvSpPr>
        <p:spPr>
          <a:xfrm>
            <a:off x="201168" y="5669280"/>
            <a:ext cx="11786616" cy="841248"/>
          </a:xfrm>
          <a:prstGeom prst="rect">
            <a:avLst/>
          </a:prstGeom>
          <a:solidFill>
            <a:srgbClr val="FF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1168" y="5669280"/>
            <a:ext cx="64008" cy="84124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 y="5724144"/>
            <a:ext cx="11594592" cy="768096"/>
          </a:xfrm>
          <a:prstGeom prst="rect">
            <a:avLst/>
          </a:prstGeom>
          <a:noFill/>
        </p:spPr>
        <p:txBody>
          <a:bodyPr wrap="square">
            <a:spAutoFit/>
          </a:bodyPr>
          <a:lstStyle/>
          <a:p>
            <a:pPr algn="l"/>
            <a:r>
              <a:rPr sz="1300" b="1" i="0">
                <a:solidFill>
                  <a:srgbClr val="C0392B"/>
                </a:solidFill>
                <a:latin typeface="Apple SD Gothic Neo"/>
              </a:rPr>
              <a:t>💡  기회 요인: 모국어 어휘 학습 시장은 검증된 수요(735만 명)에도 불구하고 경쟁자가 없는 블루오션입니다.</a:t>
            </a:r>
          </a:p>
          <a:p>
            <a:pPr algn="l"/>
            <a:r>
              <a:rPr sz="1300" b="1" i="0">
                <a:solidFill>
                  <a:srgbClr val="C0392B"/>
                </a:solidFill>
                <a:latin typeface="Apple SD Gothic Neo"/>
              </a:rPr>
              <a:t>     AI Agent를 통해 1인이 고품질 콘텐츠를 대량 생산하는 것이 유일하고 확실한 진입 전략입니다.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1A5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11365992" cy="594360"/>
          </a:xfrm>
          <a:prstGeom prst="rect">
            <a:avLst/>
          </a:prstGeom>
          <a:noFill/>
        </p:spPr>
        <p:txBody>
          <a:bodyPr wrap="square">
            <a:spAutoFit/>
          </a:bodyPr>
          <a:lstStyle/>
          <a:p>
            <a:pPr algn="l"/>
            <a:r>
              <a:rPr sz="2200" b="1" i="0">
                <a:solidFill>
                  <a:srgbClr val="FFFFFF"/>
                </a:solidFill>
                <a:latin typeface="Apple SD Gothic Neo"/>
              </a:rPr>
              <a:t>Solution  |  정의한 문제에 대한 나의 솔루션</a:t>
            </a:r>
          </a:p>
        </p:txBody>
      </p:sp>
      <p:sp>
        <p:nvSpPr>
          <p:cNvPr id="5" name="TextBox 4"/>
          <p:cNvSpPr txBox="1"/>
          <p:nvPr/>
        </p:nvSpPr>
        <p:spPr>
          <a:xfrm>
            <a:off x="411480" y="658368"/>
            <a:ext cx="11365992" cy="347472"/>
          </a:xfrm>
          <a:prstGeom prst="rect">
            <a:avLst/>
          </a:prstGeom>
          <a:noFill/>
        </p:spPr>
        <p:txBody>
          <a:bodyPr wrap="square">
            <a:spAutoFit/>
          </a:bodyPr>
          <a:lstStyle/>
          <a:p>
            <a:pPr algn="l"/>
            <a:r>
              <a:rPr sz="1200" b="0" i="1">
                <a:solidFill>
                  <a:srgbClr val="ADC6E5"/>
                </a:solidFill>
                <a:latin typeface="Apple SD Gothic Neo"/>
              </a:rPr>
              <a:t>1 / 2  —  3가지 차별화 솔루션</a:t>
            </a:r>
          </a:p>
        </p:txBody>
      </p:sp>
      <p:sp>
        <p:nvSpPr>
          <p:cNvPr id="6" name="Rectangle 5"/>
          <p:cNvSpPr/>
          <p:nvPr/>
        </p:nvSpPr>
        <p:spPr>
          <a:xfrm>
            <a:off x="0" y="1051560"/>
            <a:ext cx="73152" cy="5806440"/>
          </a:xfrm>
          <a:prstGeom prst="rect">
            <a:avLst/>
          </a:prstGeom>
          <a:solidFill>
            <a:srgbClr val="1A5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1168" y="1252728"/>
            <a:ext cx="548640" cy="1572768"/>
          </a:xfrm>
          <a:prstGeom prst="rect">
            <a:avLst/>
          </a:prstGeom>
          <a:solidFill>
            <a:srgbClr val="1A5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1168" y="1783080"/>
            <a:ext cx="548640" cy="530352"/>
          </a:xfrm>
          <a:prstGeom prst="rect">
            <a:avLst/>
          </a:prstGeom>
          <a:noFill/>
        </p:spPr>
        <p:txBody>
          <a:bodyPr wrap="square">
            <a:spAutoFit/>
          </a:bodyPr>
          <a:lstStyle/>
          <a:p>
            <a:pPr algn="ctr"/>
            <a:r>
              <a:rPr sz="2200" b="1" i="0">
                <a:solidFill>
                  <a:srgbClr val="FFFFFF"/>
                </a:solidFill>
                <a:latin typeface="Apple SD Gothic Neo"/>
              </a:rPr>
              <a:t>①</a:t>
            </a:r>
          </a:p>
        </p:txBody>
      </p:sp>
      <p:sp>
        <p:nvSpPr>
          <p:cNvPr id="9" name="Rectangle 8"/>
          <p:cNvSpPr/>
          <p:nvPr/>
        </p:nvSpPr>
        <p:spPr>
          <a:xfrm>
            <a:off x="777240" y="1252728"/>
            <a:ext cx="11183112" cy="1572768"/>
          </a:xfrm>
          <a:prstGeom prst="rect">
            <a:avLst/>
          </a:prstGeom>
          <a:solidFill>
            <a:srgbClr val="EE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344168"/>
            <a:ext cx="11000232" cy="438912"/>
          </a:xfrm>
          <a:prstGeom prst="rect">
            <a:avLst/>
          </a:prstGeom>
          <a:noFill/>
        </p:spPr>
        <p:txBody>
          <a:bodyPr wrap="square">
            <a:spAutoFit/>
          </a:bodyPr>
          <a:lstStyle/>
          <a:p>
            <a:pPr algn="l"/>
            <a:r>
              <a:rPr sz="1400" b="1" i="0">
                <a:solidFill>
                  <a:srgbClr val="1A5F9E"/>
                </a:solidFill>
                <a:latin typeface="Apple SD Gothic Neo"/>
              </a:rPr>
              <a:t>원어민 맞춤형 능동적 학습  —  직접 타이핑하는 빈칸채우기</a:t>
            </a:r>
          </a:p>
        </p:txBody>
      </p:sp>
      <p:sp>
        <p:nvSpPr>
          <p:cNvPr id="11" name="TextBox 10"/>
          <p:cNvSpPr txBox="1"/>
          <p:nvPr/>
        </p:nvSpPr>
        <p:spPr>
          <a:xfrm>
            <a:off x="960120" y="1773935"/>
            <a:ext cx="11000232" cy="987552"/>
          </a:xfrm>
          <a:prstGeom prst="rect">
            <a:avLst/>
          </a:prstGeom>
          <a:noFill/>
        </p:spPr>
        <p:txBody>
          <a:bodyPr wrap="square">
            <a:spAutoFit/>
          </a:bodyPr>
          <a:lstStyle/>
          <a:p>
            <a:pPr algn="l"/>
            <a:r>
              <a:rPr sz="1200" b="0" i="0">
                <a:solidFill>
                  <a:srgbClr val="4A5A6A"/>
                </a:solidFill>
                <a:latin typeface="Apple SD Gothic Neo"/>
              </a:rPr>
              <a:t>이미 문장 구조를 이해하는 원어민에게 선택지 암기는 불필요합니다. 커스텀 한글 자모 키보드로 직접 타이핑하는 능동적 회상(Active Recall)으로 장기 기억 효율을 높입니다. 정답을 맞힐 때마다 쌓이는 경험치(Lv.)와 연속 학습일 시스템으로, 지루한 국어 공부가 아닌 게임 같은 즐거운 루틴을 만듭니다.</a:t>
            </a:r>
          </a:p>
        </p:txBody>
      </p:sp>
      <p:sp>
        <p:nvSpPr>
          <p:cNvPr id="12" name="Rectangle 11"/>
          <p:cNvSpPr/>
          <p:nvPr/>
        </p:nvSpPr>
        <p:spPr>
          <a:xfrm>
            <a:off x="201168" y="2916936"/>
            <a:ext cx="548640" cy="1572768"/>
          </a:xfrm>
          <a:prstGeom prst="rect">
            <a:avLst/>
          </a:prstGeom>
          <a:solidFill>
            <a:srgbClr val="1A5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8" y="3447288"/>
            <a:ext cx="548640" cy="530352"/>
          </a:xfrm>
          <a:prstGeom prst="rect">
            <a:avLst/>
          </a:prstGeom>
          <a:noFill/>
        </p:spPr>
        <p:txBody>
          <a:bodyPr wrap="square">
            <a:spAutoFit/>
          </a:bodyPr>
          <a:lstStyle/>
          <a:p>
            <a:pPr algn="ctr"/>
            <a:r>
              <a:rPr sz="2200" b="1" i="0">
                <a:solidFill>
                  <a:srgbClr val="FFFFFF"/>
                </a:solidFill>
                <a:latin typeface="Apple SD Gothic Neo"/>
              </a:rPr>
              <a:t>②</a:t>
            </a:r>
          </a:p>
        </p:txBody>
      </p:sp>
      <p:sp>
        <p:nvSpPr>
          <p:cNvPr id="14" name="Rectangle 13"/>
          <p:cNvSpPr/>
          <p:nvPr/>
        </p:nvSpPr>
        <p:spPr>
          <a:xfrm>
            <a:off x="777240" y="2916936"/>
            <a:ext cx="11183112" cy="1572768"/>
          </a:xfrm>
          <a:prstGeom prst="rect">
            <a:avLst/>
          </a:prstGeom>
          <a:solidFill>
            <a:srgbClr val="E4E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008376"/>
            <a:ext cx="11000232" cy="438912"/>
          </a:xfrm>
          <a:prstGeom prst="rect">
            <a:avLst/>
          </a:prstGeom>
          <a:noFill/>
        </p:spPr>
        <p:txBody>
          <a:bodyPr wrap="square">
            <a:spAutoFit/>
          </a:bodyPr>
          <a:lstStyle/>
          <a:p>
            <a:pPr algn="l"/>
            <a:r>
              <a:rPr sz="1400" b="1" i="0">
                <a:solidFill>
                  <a:srgbClr val="1A5F9E"/>
                </a:solidFill>
                <a:latin typeface="Apple SD Gothic Neo"/>
              </a:rPr>
              <a:t>메타인지 강화  —  유저 간 실시간 오답 통계</a:t>
            </a:r>
          </a:p>
        </p:txBody>
      </p:sp>
      <p:sp>
        <p:nvSpPr>
          <p:cNvPr id="16" name="TextBox 15"/>
          <p:cNvSpPr txBox="1"/>
          <p:nvPr/>
        </p:nvSpPr>
        <p:spPr>
          <a:xfrm>
            <a:off x="960120" y="3438143"/>
            <a:ext cx="11000232" cy="987552"/>
          </a:xfrm>
          <a:prstGeom prst="rect">
            <a:avLst/>
          </a:prstGeom>
          <a:noFill/>
        </p:spPr>
        <p:txBody>
          <a:bodyPr wrap="square">
            <a:spAutoFit/>
          </a:bodyPr>
          <a:lstStyle/>
          <a:p>
            <a:pPr algn="l"/>
            <a:r>
              <a:rPr sz="1200" b="0" i="0">
                <a:solidFill>
                  <a:srgbClr val="4A5A6A"/>
                </a:solidFill>
                <a:latin typeface="Apple SD Gothic Neo"/>
              </a:rPr>
              <a:t>정답 제출 후 단순히 나의 정오답 여부만이 아니라 다른 유저들이 입력한 정오답 및 유의어 비율을 실시간으로 보여줍니다. '내가 빠진 함정에 남들도 똑같이 빠졌다'는 데이터를 통해 학습 좌절감 대신 함께 성장하는 강력한 연결감과 메타인지를 동시에 제공합니다.</a:t>
            </a:r>
          </a:p>
        </p:txBody>
      </p:sp>
      <p:sp>
        <p:nvSpPr>
          <p:cNvPr id="17" name="Rectangle 16"/>
          <p:cNvSpPr/>
          <p:nvPr/>
        </p:nvSpPr>
        <p:spPr>
          <a:xfrm>
            <a:off x="201168" y="4581144"/>
            <a:ext cx="548640" cy="1572768"/>
          </a:xfrm>
          <a:prstGeom prst="rect">
            <a:avLst/>
          </a:prstGeom>
          <a:solidFill>
            <a:srgbClr val="1A5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1168" y="5111496"/>
            <a:ext cx="548640" cy="530352"/>
          </a:xfrm>
          <a:prstGeom prst="rect">
            <a:avLst/>
          </a:prstGeom>
          <a:noFill/>
        </p:spPr>
        <p:txBody>
          <a:bodyPr wrap="square">
            <a:spAutoFit/>
          </a:bodyPr>
          <a:lstStyle/>
          <a:p>
            <a:pPr algn="ctr"/>
            <a:r>
              <a:rPr sz="2200" b="1" i="0">
                <a:solidFill>
                  <a:srgbClr val="FFFFFF"/>
                </a:solidFill>
                <a:latin typeface="Apple SD Gothic Neo"/>
              </a:rPr>
              <a:t>③</a:t>
            </a:r>
          </a:p>
        </p:txBody>
      </p:sp>
      <p:sp>
        <p:nvSpPr>
          <p:cNvPr id="19" name="Rectangle 18"/>
          <p:cNvSpPr/>
          <p:nvPr/>
        </p:nvSpPr>
        <p:spPr>
          <a:xfrm>
            <a:off x="777240" y="4581144"/>
            <a:ext cx="11183112" cy="1572768"/>
          </a:xfrm>
          <a:prstGeom prst="rect">
            <a:avLst/>
          </a:prstGeom>
          <a:solidFill>
            <a:srgbClr val="EE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672584"/>
            <a:ext cx="11000232" cy="438912"/>
          </a:xfrm>
          <a:prstGeom prst="rect">
            <a:avLst/>
          </a:prstGeom>
          <a:noFill/>
        </p:spPr>
        <p:txBody>
          <a:bodyPr wrap="square">
            <a:spAutoFit/>
          </a:bodyPr>
          <a:lstStyle/>
          <a:p>
            <a:pPr algn="l"/>
            <a:r>
              <a:rPr sz="1400" b="1" i="0">
                <a:solidFill>
                  <a:srgbClr val="1A5F9E"/>
                </a:solidFill>
                <a:latin typeface="Apple SD Gothic Neo"/>
              </a:rPr>
              <a:t>생애주기별 맞춤 큐레이션  —  지금 필요한 어휘 세션 직접 선택</a:t>
            </a:r>
          </a:p>
        </p:txBody>
      </p:sp>
      <p:sp>
        <p:nvSpPr>
          <p:cNvPr id="21" name="TextBox 20"/>
          <p:cNvSpPr txBox="1"/>
          <p:nvPr/>
        </p:nvSpPr>
        <p:spPr>
          <a:xfrm>
            <a:off x="960120" y="5102351"/>
            <a:ext cx="11000232" cy="987552"/>
          </a:xfrm>
          <a:prstGeom prst="rect">
            <a:avLst/>
          </a:prstGeom>
          <a:noFill/>
        </p:spPr>
        <p:txBody>
          <a:bodyPr wrap="square">
            <a:spAutoFit/>
          </a:bodyPr>
          <a:lstStyle/>
          <a:p>
            <a:pPr algn="l"/>
            <a:r>
              <a:rPr sz="1200" b="0" i="0">
                <a:solidFill>
                  <a:srgbClr val="4A5A6A"/>
                </a:solidFill>
                <a:latin typeface="Apple SD Gothic Neo"/>
              </a:rPr>
              <a:t>수능 고득점 목표 고등학생(필수·심화 수능 어휘 726개), 논문·발표 대학생(학술·논리 어휘), 세대 간 소통 어려움 직장인(격식·비즈니스 어휘), 감정 표현을 원하는 성인(감정·심리 어휘). 유저가 현재 가장 필요한 어휘를 직접 선택하여 즉각적인 효과를 제공합니다.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1A5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11365992" cy="594360"/>
          </a:xfrm>
          <a:prstGeom prst="rect">
            <a:avLst/>
          </a:prstGeom>
          <a:noFill/>
        </p:spPr>
        <p:txBody>
          <a:bodyPr wrap="square">
            <a:spAutoFit/>
          </a:bodyPr>
          <a:lstStyle/>
          <a:p>
            <a:pPr algn="l"/>
            <a:r>
              <a:rPr sz="2200" b="1" i="0">
                <a:solidFill>
                  <a:srgbClr val="FFFFFF"/>
                </a:solidFill>
                <a:latin typeface="Apple SD Gothic Neo"/>
              </a:rPr>
              <a:t>Solution  |  정의한 문제에 대한 나의 솔루션</a:t>
            </a:r>
          </a:p>
        </p:txBody>
      </p:sp>
      <p:sp>
        <p:nvSpPr>
          <p:cNvPr id="5" name="TextBox 4"/>
          <p:cNvSpPr txBox="1"/>
          <p:nvPr/>
        </p:nvSpPr>
        <p:spPr>
          <a:xfrm>
            <a:off x="411480" y="658368"/>
            <a:ext cx="11365992" cy="347472"/>
          </a:xfrm>
          <a:prstGeom prst="rect">
            <a:avLst/>
          </a:prstGeom>
          <a:noFill/>
        </p:spPr>
        <p:txBody>
          <a:bodyPr wrap="square">
            <a:spAutoFit/>
          </a:bodyPr>
          <a:lstStyle/>
          <a:p>
            <a:pPr algn="l"/>
            <a:r>
              <a:rPr sz="1200" b="0" i="1">
                <a:solidFill>
                  <a:srgbClr val="ADC6E5"/>
                </a:solidFill>
                <a:latin typeface="Apple SD Gothic Neo"/>
              </a:rPr>
              <a:t>2 / 2  —  큐레이션 세션 &amp; 로드맵</a:t>
            </a:r>
          </a:p>
        </p:txBody>
      </p:sp>
      <p:sp>
        <p:nvSpPr>
          <p:cNvPr id="6" name="Rectangle 5"/>
          <p:cNvSpPr/>
          <p:nvPr/>
        </p:nvSpPr>
        <p:spPr>
          <a:xfrm>
            <a:off x="0" y="1051560"/>
            <a:ext cx="73152" cy="5806440"/>
          </a:xfrm>
          <a:prstGeom prst="rect">
            <a:avLst/>
          </a:prstGeom>
          <a:solidFill>
            <a:srgbClr val="1A5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1216152"/>
            <a:ext cx="5943600" cy="347472"/>
          </a:xfrm>
          <a:prstGeom prst="rect">
            <a:avLst/>
          </a:prstGeom>
          <a:noFill/>
        </p:spPr>
        <p:txBody>
          <a:bodyPr wrap="square">
            <a:spAutoFit/>
          </a:bodyPr>
          <a:lstStyle/>
          <a:p>
            <a:pPr algn="l"/>
            <a:r>
              <a:rPr sz="1400" b="1" i="0">
                <a:solidFill>
                  <a:srgbClr val="1A5F9E"/>
                </a:solidFill>
                <a:latin typeface="Apple SD Gothic Neo"/>
              </a:rPr>
              <a:t>생애주기별 큐레이션 구성</a:t>
            </a:r>
          </a:p>
        </p:txBody>
      </p:sp>
      <p:graphicFrame>
        <p:nvGraphicFramePr>
          <p:cNvPr id="8" name="Table 7"/>
          <p:cNvGraphicFramePr>
            <a:graphicFrameLocks noGrp="1"/>
          </p:cNvGraphicFramePr>
          <p:nvPr/>
        </p:nvGraphicFramePr>
        <p:xfrm>
          <a:off x="201168" y="1618488"/>
          <a:ext cx="6126480" cy="3200400"/>
        </p:xfrm>
        <a:graphic>
          <a:graphicData uri="http://schemas.openxmlformats.org/drawingml/2006/table">
            <a:tbl>
              <a:tblPr firstRow="1" bandRow="1">
                <a:tableStyleId>{5C22544A-7EE6-4342-B048-85BDC9FD1C3A}</a:tableStyleId>
              </a:tblPr>
              <a:tblGrid>
                <a:gridCol w="2240280"/>
                <a:gridCol w="2514600"/>
                <a:gridCol w="1371600"/>
              </a:tblGrid>
              <a:tr h="533400">
                <a:tc>
                  <a:txBody>
                    <a:bodyPr wrap="square"/>
                    <a:lstStyle/>
                    <a:p>
                      <a:pPr algn="ctr"/>
                      <a:r>
                        <a:rPr sz="1200" b="1">
                          <a:solidFill>
                            <a:srgbClr val="FFFFFF"/>
                          </a:solidFill>
                          <a:latin typeface="Apple SD Gothic Neo"/>
                        </a:rPr>
                        <a:t>타겟</a:t>
                      </a:r>
                    </a:p>
                  </a:txBody>
                  <a:tcPr>
                    <a:solidFill>
                      <a:srgbClr val="1A5F9E"/>
                    </a:solidFill>
                  </a:tcPr>
                </a:tc>
                <a:tc>
                  <a:txBody>
                    <a:bodyPr wrap="square"/>
                    <a:lstStyle/>
                    <a:p>
                      <a:pPr algn="ctr"/>
                      <a:r>
                        <a:rPr sz="1200" b="1">
                          <a:solidFill>
                            <a:srgbClr val="FFFFFF"/>
                          </a:solidFill>
                          <a:latin typeface="Apple SD Gothic Neo"/>
                        </a:rPr>
                        <a:t>큐레이션 세션</a:t>
                      </a:r>
                    </a:p>
                  </a:txBody>
                  <a:tcPr>
                    <a:solidFill>
                      <a:srgbClr val="1A5F9E"/>
                    </a:solidFill>
                  </a:tcPr>
                </a:tc>
                <a:tc>
                  <a:txBody>
                    <a:bodyPr wrap="square"/>
                    <a:lstStyle/>
                    <a:p>
                      <a:pPr algn="ctr"/>
                      <a:r>
                        <a:rPr sz="1200" b="1">
                          <a:solidFill>
                            <a:srgbClr val="FFFFFF"/>
                          </a:solidFill>
                          <a:latin typeface="Apple SD Gothic Neo"/>
                        </a:rPr>
                        <a:t>현재 단어 수</a:t>
                      </a:r>
                    </a:p>
                  </a:txBody>
                  <a:tcPr>
                    <a:solidFill>
                      <a:srgbClr val="1A5F9E"/>
                    </a:solidFill>
                  </a:tcPr>
                </a:tc>
              </a:tr>
              <a:tr h="533400">
                <a:tc>
                  <a:txBody>
                    <a:bodyPr wrap="square"/>
                    <a:lstStyle/>
                    <a:p>
                      <a:pPr algn="l"/>
                      <a:r>
                        <a:rPr sz="1200" b="0">
                          <a:solidFill>
                            <a:srgbClr val="4A5A6A"/>
                          </a:solidFill>
                          <a:latin typeface="Apple SD Gothic Neo"/>
                        </a:rPr>
                        <a:t>수능 준비 고등학생</a:t>
                      </a:r>
                    </a:p>
                  </a:txBody>
                  <a:tcPr>
                    <a:solidFill>
                      <a:srgbClr val="FFFFFF"/>
                    </a:solidFill>
                  </a:tcPr>
                </a:tc>
                <a:tc>
                  <a:txBody>
                    <a:bodyPr wrap="square"/>
                    <a:lstStyle/>
                    <a:p>
                      <a:pPr algn="l"/>
                      <a:r>
                        <a:rPr sz="1200" b="0">
                          <a:solidFill>
                            <a:srgbClr val="4A5A6A"/>
                          </a:solidFill>
                          <a:latin typeface="Apple SD Gothic Neo"/>
                        </a:rPr>
                        <a:t>필수·심화 수능 어휘</a:t>
                      </a:r>
                    </a:p>
                  </a:txBody>
                  <a:tcPr>
                    <a:solidFill>
                      <a:srgbClr val="FFFFFF"/>
                    </a:solidFill>
                  </a:tcPr>
                </a:tc>
                <a:tc>
                  <a:txBody>
                    <a:bodyPr wrap="square"/>
                    <a:lstStyle/>
                    <a:p>
                      <a:pPr algn="ctr"/>
                      <a:r>
                        <a:rPr sz="1200" b="1">
                          <a:solidFill>
                            <a:srgbClr val="27AE60"/>
                          </a:solidFill>
                          <a:latin typeface="Apple SD Gothic Neo"/>
                        </a:rPr>
                        <a:t>726개 ✅</a:t>
                      </a:r>
                    </a:p>
                  </a:txBody>
                  <a:tcPr>
                    <a:solidFill>
                      <a:srgbClr val="FFFFFF"/>
                    </a:solidFill>
                  </a:tcPr>
                </a:tc>
              </a:tr>
              <a:tr h="533400">
                <a:tc>
                  <a:txBody>
                    <a:bodyPr wrap="square"/>
                    <a:lstStyle/>
                    <a:p>
                      <a:pPr algn="l"/>
                      <a:r>
                        <a:rPr sz="1200" b="0">
                          <a:solidFill>
                            <a:srgbClr val="4A5A6A"/>
                          </a:solidFill>
                          <a:latin typeface="Apple SD Gothic Neo"/>
                        </a:rPr>
                        <a:t>논문·발표 대학생</a:t>
                      </a:r>
                    </a:p>
                  </a:txBody>
                  <a:tcPr>
                    <a:solidFill>
                      <a:srgbClr val="F0F5FF"/>
                    </a:solidFill>
                  </a:tcPr>
                </a:tc>
                <a:tc>
                  <a:txBody>
                    <a:bodyPr wrap="square"/>
                    <a:lstStyle/>
                    <a:p>
                      <a:pPr algn="l"/>
                      <a:r>
                        <a:rPr sz="1200" b="0">
                          <a:solidFill>
                            <a:srgbClr val="4A5A6A"/>
                          </a:solidFill>
                          <a:latin typeface="Apple SD Gothic Neo"/>
                        </a:rPr>
                        <a:t>학술·논리 어휘</a:t>
                      </a:r>
                    </a:p>
                  </a:txBody>
                  <a:tcPr>
                    <a:solidFill>
                      <a:srgbClr val="F0F5FF"/>
                    </a:solidFill>
                  </a:tcPr>
                </a:tc>
                <a:tc>
                  <a:txBody>
                    <a:bodyPr wrap="square"/>
                    <a:lstStyle/>
                    <a:p>
                      <a:pPr algn="ctr"/>
                      <a:r>
                        <a:rPr sz="1200" b="1">
                          <a:solidFill>
                            <a:srgbClr val="27AE60"/>
                          </a:solidFill>
                          <a:latin typeface="Apple SD Gothic Neo"/>
                        </a:rPr>
                        <a:t>85개 ✅</a:t>
                      </a:r>
                    </a:p>
                  </a:txBody>
                  <a:tcPr>
                    <a:solidFill>
                      <a:srgbClr val="F0F5FF"/>
                    </a:solidFill>
                  </a:tcPr>
                </a:tc>
              </a:tr>
              <a:tr h="533400">
                <a:tc>
                  <a:txBody>
                    <a:bodyPr wrap="square"/>
                    <a:lstStyle/>
                    <a:p>
                      <a:pPr algn="l"/>
                      <a:r>
                        <a:rPr sz="1200" b="0">
                          <a:solidFill>
                            <a:srgbClr val="4A5A6A"/>
                          </a:solidFill>
                          <a:latin typeface="Apple SD Gothic Neo"/>
                        </a:rPr>
                        <a:t>사회초년생·직장인</a:t>
                      </a:r>
                    </a:p>
                  </a:txBody>
                  <a:tcPr>
                    <a:solidFill>
                      <a:srgbClr val="FFFFFF"/>
                    </a:solidFill>
                  </a:tcPr>
                </a:tc>
                <a:tc>
                  <a:txBody>
                    <a:bodyPr wrap="square"/>
                    <a:lstStyle/>
                    <a:p>
                      <a:pPr algn="l"/>
                      <a:r>
                        <a:rPr sz="1200" b="0">
                          <a:solidFill>
                            <a:srgbClr val="4A5A6A"/>
                          </a:solidFill>
                          <a:latin typeface="Apple SD Gothic Neo"/>
                        </a:rPr>
                        <a:t>격식·비즈니스 어휘</a:t>
                      </a:r>
                    </a:p>
                  </a:txBody>
                  <a:tcPr>
                    <a:solidFill>
                      <a:srgbClr val="FFFFFF"/>
                    </a:solidFill>
                  </a:tcPr>
                </a:tc>
                <a:tc>
                  <a:txBody>
                    <a:bodyPr wrap="square"/>
                    <a:lstStyle/>
                    <a:p>
                      <a:pPr algn="ctr"/>
                      <a:r>
                        <a:rPr sz="1200" b="1">
                          <a:solidFill>
                            <a:srgbClr val="27AE60"/>
                          </a:solidFill>
                          <a:latin typeface="Apple SD Gothic Neo"/>
                        </a:rPr>
                        <a:t>74개 ✅</a:t>
                      </a:r>
                    </a:p>
                  </a:txBody>
                  <a:tcPr>
                    <a:solidFill>
                      <a:srgbClr val="FFFFFF"/>
                    </a:solidFill>
                  </a:tcPr>
                </a:tc>
              </a:tr>
              <a:tr h="533400">
                <a:tc>
                  <a:txBody>
                    <a:bodyPr wrap="square"/>
                    <a:lstStyle/>
                    <a:p>
                      <a:pPr algn="l"/>
                      <a:r>
                        <a:rPr sz="1200" b="0">
                          <a:solidFill>
                            <a:srgbClr val="4A5A6A"/>
                          </a:solidFill>
                          <a:latin typeface="Apple SD Gothic Neo"/>
                        </a:rPr>
                        <a:t>자기표현 원하는 성인</a:t>
                      </a:r>
                    </a:p>
                  </a:txBody>
                  <a:tcPr>
                    <a:solidFill>
                      <a:srgbClr val="F0F5FF"/>
                    </a:solidFill>
                  </a:tcPr>
                </a:tc>
                <a:tc>
                  <a:txBody>
                    <a:bodyPr wrap="square"/>
                    <a:lstStyle/>
                    <a:p>
                      <a:pPr algn="l"/>
                      <a:r>
                        <a:rPr sz="1200" b="0">
                          <a:solidFill>
                            <a:srgbClr val="4A5A6A"/>
                          </a:solidFill>
                          <a:latin typeface="Apple SD Gothic Neo"/>
                        </a:rPr>
                        <a:t>감정·심리 어휘</a:t>
                      </a:r>
                    </a:p>
                  </a:txBody>
                  <a:tcPr>
                    <a:solidFill>
                      <a:srgbClr val="F0F5FF"/>
                    </a:solidFill>
                  </a:tcPr>
                </a:tc>
                <a:tc>
                  <a:txBody>
                    <a:bodyPr wrap="square"/>
                    <a:lstStyle/>
                    <a:p>
                      <a:pPr algn="ctr"/>
                      <a:r>
                        <a:rPr sz="1200" b="1">
                          <a:solidFill>
                            <a:srgbClr val="BDC3C7"/>
                          </a:solidFill>
                          <a:latin typeface="Apple SD Gothic Neo"/>
                        </a:rPr>
                        <a:t>준비 중 ⏳</a:t>
                      </a:r>
                    </a:p>
                  </a:txBody>
                  <a:tcPr>
                    <a:solidFill>
                      <a:srgbClr val="F0F5FF"/>
                    </a:solidFill>
                  </a:tcPr>
                </a:tc>
              </a:tr>
              <a:tr h="533400">
                <a:tc>
                  <a:txBody>
                    <a:bodyPr wrap="square"/>
                    <a:lstStyle/>
                    <a:p>
                      <a:pPr algn="l"/>
                      <a:r>
                        <a:rPr sz="1200" b="0">
                          <a:solidFill>
                            <a:srgbClr val="4A5A6A"/>
                          </a:solidFill>
                          <a:latin typeface="Apple SD Gothic Neo"/>
                        </a:rPr>
                        <a:t>전체 통합</a:t>
                      </a:r>
                    </a:p>
                  </a:txBody>
                  <a:tcPr>
                    <a:solidFill>
                      <a:srgbClr val="FFFFFF"/>
                    </a:solidFill>
                  </a:tcPr>
                </a:tc>
                <a:tc>
                  <a:txBody>
                    <a:bodyPr wrap="square"/>
                    <a:lstStyle/>
                    <a:p>
                      <a:pPr algn="l"/>
                      <a:r>
                        <a:rPr sz="1200" b="0">
                          <a:solidFill>
                            <a:srgbClr val="4A5A6A"/>
                          </a:solidFill>
                          <a:latin typeface="Apple SD Gothic Neo"/>
                        </a:rPr>
                        <a:t>전 주제 세션</a:t>
                      </a:r>
                    </a:p>
                  </a:txBody>
                  <a:tcPr>
                    <a:solidFill>
                      <a:srgbClr val="FFFFFF"/>
                    </a:solidFill>
                  </a:tcPr>
                </a:tc>
                <a:tc>
                  <a:txBody>
                    <a:bodyPr wrap="square"/>
                    <a:lstStyle/>
                    <a:p>
                      <a:pPr algn="ctr"/>
                      <a:r>
                        <a:rPr sz="1200" b="1">
                          <a:solidFill>
                            <a:srgbClr val="27AE60"/>
                          </a:solidFill>
                          <a:latin typeface="Apple SD Gothic Neo"/>
                        </a:rPr>
                        <a:t>1,189개 ✅</a:t>
                      </a:r>
                    </a:p>
                  </a:txBody>
                  <a:tcPr>
                    <a:solidFill>
                      <a:srgbClr val="FFFFFF"/>
                    </a:solidFill>
                  </a:tcPr>
                </a:tc>
              </a:tr>
            </a:tbl>
          </a:graphicData>
        </a:graphic>
      </p:graphicFrame>
      <p:sp>
        <p:nvSpPr>
          <p:cNvPr id="9" name="Rectangle 8"/>
          <p:cNvSpPr/>
          <p:nvPr/>
        </p:nvSpPr>
        <p:spPr>
          <a:xfrm>
            <a:off x="201168" y="5806440"/>
            <a:ext cx="6126480" cy="777240"/>
          </a:xfrm>
          <a:prstGeom prst="rect">
            <a:avLst/>
          </a:prstGeom>
          <a:solidFill>
            <a:srgbClr val="E8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 y="5870448"/>
            <a:ext cx="5760720" cy="731520"/>
          </a:xfrm>
          <a:prstGeom prst="rect">
            <a:avLst/>
          </a:prstGeom>
          <a:noFill/>
        </p:spPr>
        <p:txBody>
          <a:bodyPr wrap="square">
            <a:spAutoFit/>
          </a:bodyPr>
          <a:lstStyle/>
          <a:p>
            <a:pPr algn="l"/>
            <a:r>
              <a:rPr sz="1100" b="0" i="0">
                <a:solidFill>
                  <a:srgbClr val="1A5F9E"/>
                </a:solidFill>
                <a:latin typeface="Apple SD Gothic Neo"/>
              </a:rPr>
              <a:t>로드맵:  [1단계] 앱 정식 런칭 → 유저 1,000명 확보</a:t>
            </a:r>
          </a:p>
          <a:p>
            <a:pPr algn="l"/>
            <a:r>
              <a:rPr sz="1100" b="0" i="0">
                <a:solidFill>
                  <a:srgbClr val="1A5F9E"/>
                </a:solidFill>
                <a:latin typeface="Apple SD Gothic Neo"/>
              </a:rPr>
              <a:t>           →  [2단계] SNS 바이럴 (어휘 해상도 테스트)</a:t>
            </a:r>
          </a:p>
          <a:p>
            <a:pPr algn="l"/>
            <a:r>
              <a:rPr sz="1100" b="0" i="0">
                <a:solidFill>
                  <a:srgbClr val="1A5F9E"/>
                </a:solidFill>
                <a:latin typeface="Apple SD Gothic Neo"/>
              </a:rPr>
              <a:t>           →  [3단계] 월간 구독형 프리미엄 BM 출시</a:t>
            </a:r>
          </a:p>
        </p:txBody>
      </p:sp>
      <p:sp>
        <p:nvSpPr>
          <p:cNvPr id="11" name="TextBox 10"/>
          <p:cNvSpPr txBox="1"/>
          <p:nvPr/>
        </p:nvSpPr>
        <p:spPr>
          <a:xfrm>
            <a:off x="6492240" y="1216152"/>
            <a:ext cx="5394960" cy="347472"/>
          </a:xfrm>
          <a:prstGeom prst="rect">
            <a:avLst/>
          </a:prstGeom>
          <a:noFill/>
        </p:spPr>
        <p:txBody>
          <a:bodyPr wrap="square">
            <a:spAutoFit/>
          </a:bodyPr>
          <a:lstStyle/>
          <a:p>
            <a:pPr algn="l"/>
            <a:r>
              <a:rPr sz="1400" b="1" i="0">
                <a:solidFill>
                  <a:srgbClr val="1A5F9E"/>
                </a:solidFill>
                <a:latin typeface="Apple SD Gothic Neo"/>
              </a:rPr>
              <a:t>MVP 구현 현황</a:t>
            </a:r>
          </a:p>
        </p:txBody>
      </p:sp>
      <p:sp>
        <p:nvSpPr>
          <p:cNvPr id="12" name="TextBox 11"/>
          <p:cNvSpPr txBox="1"/>
          <p:nvPr/>
        </p:nvSpPr>
        <p:spPr>
          <a:xfrm>
            <a:off x="6492240" y="1645920"/>
            <a:ext cx="5394960" cy="347472"/>
          </a:xfrm>
          <a:prstGeom prst="rect">
            <a:avLst/>
          </a:prstGeom>
          <a:noFill/>
        </p:spPr>
        <p:txBody>
          <a:bodyPr wrap="square">
            <a:spAutoFit/>
          </a:bodyPr>
          <a:lstStyle/>
          <a:p>
            <a:pPr algn="l"/>
            <a:r>
              <a:rPr sz="1200" b="0" i="0">
                <a:solidFill>
                  <a:srgbClr val="27AE60"/>
                </a:solidFill>
                <a:latin typeface="Apple SD Gothic Neo"/>
              </a:rPr>
              <a:t>✅  iOS / Android Capacitor 앱 배포</a:t>
            </a:r>
          </a:p>
        </p:txBody>
      </p:sp>
      <p:sp>
        <p:nvSpPr>
          <p:cNvPr id="13" name="TextBox 12"/>
          <p:cNvSpPr txBox="1"/>
          <p:nvPr/>
        </p:nvSpPr>
        <p:spPr>
          <a:xfrm>
            <a:off x="6492240" y="2029968"/>
            <a:ext cx="5394960" cy="347472"/>
          </a:xfrm>
          <a:prstGeom prst="rect">
            <a:avLst/>
          </a:prstGeom>
          <a:noFill/>
        </p:spPr>
        <p:txBody>
          <a:bodyPr wrap="square">
            <a:spAutoFit/>
          </a:bodyPr>
          <a:lstStyle/>
          <a:p>
            <a:pPr algn="l"/>
            <a:r>
              <a:rPr sz="1200" b="0" i="0">
                <a:solidFill>
                  <a:srgbClr val="27AE60"/>
                </a:solidFill>
                <a:latin typeface="Apple SD Gothic Neo"/>
              </a:rPr>
              <a:t>✅  커스텀 한글 자모 입력 키보드</a:t>
            </a:r>
          </a:p>
        </p:txBody>
      </p:sp>
      <p:sp>
        <p:nvSpPr>
          <p:cNvPr id="14" name="TextBox 13"/>
          <p:cNvSpPr txBox="1"/>
          <p:nvPr/>
        </p:nvSpPr>
        <p:spPr>
          <a:xfrm>
            <a:off x="6492240" y="2414016"/>
            <a:ext cx="5394960" cy="347472"/>
          </a:xfrm>
          <a:prstGeom prst="rect">
            <a:avLst/>
          </a:prstGeom>
          <a:noFill/>
        </p:spPr>
        <p:txBody>
          <a:bodyPr wrap="square">
            <a:spAutoFit/>
          </a:bodyPr>
          <a:lstStyle/>
          <a:p>
            <a:pPr algn="l"/>
            <a:r>
              <a:rPr sz="1200" b="0" i="0">
                <a:solidFill>
                  <a:srgbClr val="27AE60"/>
                </a:solidFill>
                <a:latin typeface="Apple SD Gothic Neo"/>
              </a:rPr>
              <a:t>✅  SRS 간격반복 알고리즘</a:t>
            </a:r>
          </a:p>
        </p:txBody>
      </p:sp>
      <p:sp>
        <p:nvSpPr>
          <p:cNvPr id="15" name="TextBox 14"/>
          <p:cNvSpPr txBox="1"/>
          <p:nvPr/>
        </p:nvSpPr>
        <p:spPr>
          <a:xfrm>
            <a:off x="6492240" y="2798064"/>
            <a:ext cx="5394960" cy="347472"/>
          </a:xfrm>
          <a:prstGeom prst="rect">
            <a:avLst/>
          </a:prstGeom>
          <a:noFill/>
        </p:spPr>
        <p:txBody>
          <a:bodyPr wrap="square">
            <a:spAutoFit/>
          </a:bodyPr>
          <a:lstStyle/>
          <a:p>
            <a:pPr algn="l"/>
            <a:r>
              <a:rPr sz="1200" b="0" i="0">
                <a:solidFill>
                  <a:srgbClr val="27AE60"/>
                </a:solidFill>
                <a:latin typeface="Apple SD Gothic Neo"/>
              </a:rPr>
              <a:t>✅  Firebase 실시간 동기화</a:t>
            </a:r>
          </a:p>
        </p:txBody>
      </p:sp>
      <p:sp>
        <p:nvSpPr>
          <p:cNvPr id="16" name="TextBox 15"/>
          <p:cNvSpPr txBox="1"/>
          <p:nvPr/>
        </p:nvSpPr>
        <p:spPr>
          <a:xfrm>
            <a:off x="6492240" y="3182112"/>
            <a:ext cx="5394960" cy="347472"/>
          </a:xfrm>
          <a:prstGeom prst="rect">
            <a:avLst/>
          </a:prstGeom>
          <a:noFill/>
        </p:spPr>
        <p:txBody>
          <a:bodyPr wrap="square">
            <a:spAutoFit/>
          </a:bodyPr>
          <a:lstStyle/>
          <a:p>
            <a:pPr algn="l"/>
            <a:r>
              <a:rPr sz="1200" b="0" i="0">
                <a:solidFill>
                  <a:srgbClr val="27AE60"/>
                </a:solidFill>
                <a:latin typeface="Apple SD Gothic Neo"/>
              </a:rPr>
              <a:t>✅  주제별 학습 세션 (65/35 가중치 적용)</a:t>
            </a:r>
          </a:p>
        </p:txBody>
      </p:sp>
      <p:sp>
        <p:nvSpPr>
          <p:cNvPr id="17" name="TextBox 16"/>
          <p:cNvSpPr txBox="1"/>
          <p:nvPr/>
        </p:nvSpPr>
        <p:spPr>
          <a:xfrm>
            <a:off x="6492240" y="3566160"/>
            <a:ext cx="5394960" cy="347472"/>
          </a:xfrm>
          <a:prstGeom prst="rect">
            <a:avLst/>
          </a:prstGeom>
          <a:noFill/>
        </p:spPr>
        <p:txBody>
          <a:bodyPr wrap="square">
            <a:spAutoFit/>
          </a:bodyPr>
          <a:lstStyle/>
          <a:p>
            <a:pPr algn="l"/>
            <a:r>
              <a:rPr sz="1200" b="0" i="0">
                <a:solidFill>
                  <a:srgbClr val="27AE60"/>
                </a:solidFill>
                <a:latin typeface="Apple SD Gothic Neo"/>
              </a:rPr>
              <a:t>✅  유저 간 실시간 오답 통계</a:t>
            </a:r>
          </a:p>
        </p:txBody>
      </p:sp>
      <p:sp>
        <p:nvSpPr>
          <p:cNvPr id="18" name="TextBox 17"/>
          <p:cNvSpPr txBox="1"/>
          <p:nvPr/>
        </p:nvSpPr>
        <p:spPr>
          <a:xfrm>
            <a:off x="6492240" y="3950208"/>
            <a:ext cx="5394960" cy="347472"/>
          </a:xfrm>
          <a:prstGeom prst="rect">
            <a:avLst/>
          </a:prstGeom>
          <a:noFill/>
        </p:spPr>
        <p:txBody>
          <a:bodyPr wrap="square">
            <a:spAutoFit/>
          </a:bodyPr>
          <a:lstStyle/>
          <a:p>
            <a:pPr algn="l"/>
            <a:r>
              <a:rPr sz="1200" b="0" i="0">
                <a:solidFill>
                  <a:srgbClr val="27AE60"/>
                </a:solidFill>
                <a:latin typeface="Apple SD Gothic Neo"/>
              </a:rPr>
              <a:t>✅  관리자 검수 시스템 (admin.html)</a:t>
            </a:r>
          </a:p>
        </p:txBody>
      </p:sp>
      <p:sp>
        <p:nvSpPr>
          <p:cNvPr id="19" name="TextBox 18"/>
          <p:cNvSpPr txBox="1"/>
          <p:nvPr/>
        </p:nvSpPr>
        <p:spPr>
          <a:xfrm>
            <a:off x="6492240" y="4334256"/>
            <a:ext cx="5394960" cy="347472"/>
          </a:xfrm>
          <a:prstGeom prst="rect">
            <a:avLst/>
          </a:prstGeom>
          <a:noFill/>
        </p:spPr>
        <p:txBody>
          <a:bodyPr wrap="square">
            <a:spAutoFit/>
          </a:bodyPr>
          <a:lstStyle/>
          <a:p>
            <a:pPr algn="l"/>
            <a:r>
              <a:rPr sz="1200" b="0" i="0">
                <a:solidFill>
                  <a:srgbClr val="BDC3C7"/>
                </a:solidFill>
                <a:latin typeface="Apple SD Gothic Neo"/>
              </a:rPr>
              <a:t>⏳  오답 복습 모드 (개발 예정)</a:t>
            </a:r>
          </a:p>
        </p:txBody>
      </p:sp>
      <p:sp>
        <p:nvSpPr>
          <p:cNvPr id="20" name="TextBox 19"/>
          <p:cNvSpPr txBox="1"/>
          <p:nvPr/>
        </p:nvSpPr>
        <p:spPr>
          <a:xfrm>
            <a:off x="6492240" y="4718304"/>
            <a:ext cx="5394960" cy="347472"/>
          </a:xfrm>
          <a:prstGeom prst="rect">
            <a:avLst/>
          </a:prstGeom>
          <a:noFill/>
        </p:spPr>
        <p:txBody>
          <a:bodyPr wrap="square">
            <a:spAutoFit/>
          </a:bodyPr>
          <a:lstStyle/>
          <a:p>
            <a:pPr algn="l"/>
            <a:r>
              <a:rPr sz="1200" b="0" i="0">
                <a:solidFill>
                  <a:srgbClr val="BDC3C7"/>
                </a:solidFill>
                <a:latin typeface="Apple SD Gothic Neo"/>
              </a:rPr>
              <a:t>⏳  AI 개인화 코치 (개발 예정)</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11365992" cy="594360"/>
          </a:xfrm>
          <a:prstGeom prst="rect">
            <a:avLst/>
          </a:prstGeom>
          <a:noFill/>
        </p:spPr>
        <p:txBody>
          <a:bodyPr wrap="square">
            <a:spAutoFit/>
          </a:bodyPr>
          <a:lstStyle/>
          <a:p>
            <a:pPr algn="l"/>
            <a:r>
              <a:rPr sz="2200" b="1" i="0">
                <a:solidFill>
                  <a:srgbClr val="FFFFFF"/>
                </a:solidFill>
                <a:latin typeface="Apple SD Gothic Neo"/>
              </a:rPr>
              <a:t>AI 활용 역량  |  AI 도메인 전문성 및 활용 계획</a:t>
            </a:r>
          </a:p>
        </p:txBody>
      </p:sp>
      <p:sp>
        <p:nvSpPr>
          <p:cNvPr id="5" name="TextBox 4"/>
          <p:cNvSpPr txBox="1"/>
          <p:nvPr/>
        </p:nvSpPr>
        <p:spPr>
          <a:xfrm>
            <a:off x="411480" y="658368"/>
            <a:ext cx="11365992" cy="347472"/>
          </a:xfrm>
          <a:prstGeom prst="rect">
            <a:avLst/>
          </a:prstGeom>
          <a:noFill/>
        </p:spPr>
        <p:txBody>
          <a:bodyPr wrap="square">
            <a:spAutoFit/>
          </a:bodyPr>
          <a:lstStyle/>
          <a:p>
            <a:pPr algn="l"/>
            <a:r>
              <a:rPr sz="1200" b="0" i="1">
                <a:solidFill>
                  <a:srgbClr val="ADC6E5"/>
                </a:solidFill>
                <a:latin typeface="Apple SD Gothic Neo"/>
              </a:rPr>
              <a:t>1 / 2  —  현재 구현된 AI Agent 파이프라인</a:t>
            </a:r>
          </a:p>
        </p:txBody>
      </p:sp>
      <p:sp>
        <p:nvSpPr>
          <p:cNvPr id="6" name="Rectangle 5"/>
          <p:cNvSpPr/>
          <p:nvPr/>
        </p:nvSpPr>
        <p:spPr>
          <a:xfrm>
            <a:off x="0" y="1051560"/>
            <a:ext cx="73152" cy="58064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1188720"/>
            <a:ext cx="11823192" cy="384048"/>
          </a:xfrm>
          <a:prstGeom prst="rect">
            <a:avLst/>
          </a:prstGeom>
          <a:noFill/>
        </p:spPr>
        <p:txBody>
          <a:bodyPr wrap="square">
            <a:spAutoFit/>
          </a:bodyPr>
          <a:lstStyle/>
          <a:p>
            <a:pPr algn="l"/>
            <a:r>
              <a:rPr sz="1400" b="1" i="0">
                <a:solidFill>
                  <a:srgbClr val="27AE60"/>
                </a:solidFill>
                <a:latin typeface="Apple SD Gothic Neo"/>
              </a:rPr>
              <a:t>Claude API를 AI 공동창업자로  —  1인 풀스택 자동화 파이프라인 (현재 운영 중)</a:t>
            </a:r>
          </a:p>
        </p:txBody>
      </p:sp>
      <p:sp>
        <p:nvSpPr>
          <p:cNvPr id="8" name="Rectangle 7"/>
          <p:cNvSpPr/>
          <p:nvPr/>
        </p:nvSpPr>
        <p:spPr>
          <a:xfrm>
            <a:off x="269748" y="1691640"/>
            <a:ext cx="1993392" cy="89611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9748" y="1783080"/>
            <a:ext cx="1993392" cy="804672"/>
          </a:xfrm>
          <a:prstGeom prst="rect">
            <a:avLst/>
          </a:prstGeom>
          <a:noFill/>
        </p:spPr>
        <p:txBody>
          <a:bodyPr wrap="square">
            <a:spAutoFit/>
          </a:bodyPr>
          <a:lstStyle/>
          <a:p>
            <a:pPr algn="ctr"/>
            <a:r>
              <a:rPr sz="1300" b="1" i="0">
                <a:solidFill>
                  <a:srgbClr val="FFFFFF"/>
                </a:solidFill>
                <a:latin typeface="Apple SD Gothic Neo"/>
              </a:rPr>
              <a:t>Claude</a:t>
            </a:r>
          </a:p>
          <a:p>
            <a:pPr algn="ctr"/>
            <a:r>
              <a:rPr sz="1300" b="1" i="0">
                <a:solidFill>
                  <a:srgbClr val="FFFFFF"/>
                </a:solidFill>
                <a:latin typeface="Apple SD Gothic Neo"/>
              </a:rPr>
              <a:t>API</a:t>
            </a:r>
          </a:p>
        </p:txBody>
      </p:sp>
      <p:sp>
        <p:nvSpPr>
          <p:cNvPr id="10" name="TextBox 9"/>
          <p:cNvSpPr txBox="1"/>
          <p:nvPr/>
        </p:nvSpPr>
        <p:spPr>
          <a:xfrm>
            <a:off x="2427732" y="1856232"/>
            <a:ext cx="256032" cy="594360"/>
          </a:xfrm>
          <a:prstGeom prst="rect">
            <a:avLst/>
          </a:prstGeom>
          <a:noFill/>
        </p:spPr>
        <p:txBody>
          <a:bodyPr wrap="square">
            <a:spAutoFit/>
          </a:bodyPr>
          <a:lstStyle/>
          <a:p>
            <a:pPr algn="ctr"/>
            <a:r>
              <a:rPr sz="2000" b="1" i="0">
                <a:solidFill>
                  <a:srgbClr val="BDC3C7"/>
                </a:solidFill>
                <a:latin typeface="Apple SD Gothic Neo"/>
              </a:rPr>
              <a:t>→</a:t>
            </a:r>
          </a:p>
        </p:txBody>
      </p:sp>
      <p:sp>
        <p:nvSpPr>
          <p:cNvPr id="11" name="Rectangle 10"/>
          <p:cNvSpPr/>
          <p:nvPr/>
        </p:nvSpPr>
        <p:spPr>
          <a:xfrm>
            <a:off x="2683764" y="1691640"/>
            <a:ext cx="1993392" cy="896112"/>
          </a:xfrm>
          <a:prstGeom prst="rect">
            <a:avLst/>
          </a:prstGeom>
          <a:solidFill>
            <a:srgbClr val="167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83764" y="1783080"/>
            <a:ext cx="1993392" cy="804672"/>
          </a:xfrm>
          <a:prstGeom prst="rect">
            <a:avLst/>
          </a:prstGeom>
          <a:noFill/>
        </p:spPr>
        <p:txBody>
          <a:bodyPr wrap="square">
            <a:spAutoFit/>
          </a:bodyPr>
          <a:lstStyle/>
          <a:p>
            <a:pPr algn="ctr"/>
            <a:r>
              <a:rPr sz="1300" b="1" i="0">
                <a:solidFill>
                  <a:srgbClr val="FFFFFF"/>
                </a:solidFill>
                <a:latin typeface="Apple SD Gothic Neo"/>
              </a:rPr>
              <a:t>예문</a:t>
            </a:r>
          </a:p>
          <a:p>
            <a:pPr algn="ctr"/>
            <a:r>
              <a:rPr sz="1300" b="1" i="0">
                <a:solidFill>
                  <a:srgbClr val="FFFFFF"/>
                </a:solidFill>
                <a:latin typeface="Apple SD Gothic Neo"/>
              </a:rPr>
              <a:t>자동 생성</a:t>
            </a:r>
          </a:p>
        </p:txBody>
      </p:sp>
      <p:sp>
        <p:nvSpPr>
          <p:cNvPr id="13" name="TextBox 12"/>
          <p:cNvSpPr txBox="1"/>
          <p:nvPr/>
        </p:nvSpPr>
        <p:spPr>
          <a:xfrm>
            <a:off x="4841748" y="1856232"/>
            <a:ext cx="256032" cy="594360"/>
          </a:xfrm>
          <a:prstGeom prst="rect">
            <a:avLst/>
          </a:prstGeom>
          <a:noFill/>
        </p:spPr>
        <p:txBody>
          <a:bodyPr wrap="square">
            <a:spAutoFit/>
          </a:bodyPr>
          <a:lstStyle/>
          <a:p>
            <a:pPr algn="ctr"/>
            <a:r>
              <a:rPr sz="2000" b="1" i="0">
                <a:solidFill>
                  <a:srgbClr val="BDC3C7"/>
                </a:solidFill>
                <a:latin typeface="Apple SD Gothic Neo"/>
              </a:rPr>
              <a:t>→</a:t>
            </a:r>
          </a:p>
        </p:txBody>
      </p:sp>
      <p:sp>
        <p:nvSpPr>
          <p:cNvPr id="14" name="Rectangle 13"/>
          <p:cNvSpPr/>
          <p:nvPr/>
        </p:nvSpPr>
        <p:spPr>
          <a:xfrm>
            <a:off x="5097780" y="1691640"/>
            <a:ext cx="1993392" cy="896112"/>
          </a:xfrm>
          <a:prstGeom prst="rect">
            <a:avLst/>
          </a:prstGeom>
          <a:solidFill>
            <a:srgbClr val="1A5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97780" y="1783080"/>
            <a:ext cx="1993392" cy="804672"/>
          </a:xfrm>
          <a:prstGeom prst="rect">
            <a:avLst/>
          </a:prstGeom>
          <a:noFill/>
        </p:spPr>
        <p:txBody>
          <a:bodyPr wrap="square">
            <a:spAutoFit/>
          </a:bodyPr>
          <a:lstStyle/>
          <a:p>
            <a:pPr algn="ctr"/>
            <a:r>
              <a:rPr sz="1300" b="1" i="0">
                <a:solidFill>
                  <a:srgbClr val="FFFFFF"/>
                </a:solidFill>
                <a:latin typeface="Apple SD Gothic Neo"/>
              </a:rPr>
              <a:t>admin.html</a:t>
            </a:r>
          </a:p>
          <a:p>
            <a:pPr algn="ctr"/>
            <a:r>
              <a:rPr sz="1300" b="1" i="0">
                <a:solidFill>
                  <a:srgbClr val="FFFFFF"/>
                </a:solidFill>
                <a:latin typeface="Apple SD Gothic Neo"/>
              </a:rPr>
              <a:t>품질 검수</a:t>
            </a:r>
          </a:p>
        </p:txBody>
      </p:sp>
      <p:sp>
        <p:nvSpPr>
          <p:cNvPr id="16" name="TextBox 15"/>
          <p:cNvSpPr txBox="1"/>
          <p:nvPr/>
        </p:nvSpPr>
        <p:spPr>
          <a:xfrm>
            <a:off x="7255764" y="1856232"/>
            <a:ext cx="256032" cy="594360"/>
          </a:xfrm>
          <a:prstGeom prst="rect">
            <a:avLst/>
          </a:prstGeom>
          <a:noFill/>
        </p:spPr>
        <p:txBody>
          <a:bodyPr wrap="square">
            <a:spAutoFit/>
          </a:bodyPr>
          <a:lstStyle/>
          <a:p>
            <a:pPr algn="ctr"/>
            <a:r>
              <a:rPr sz="2000" b="1" i="0">
                <a:solidFill>
                  <a:srgbClr val="BDC3C7"/>
                </a:solidFill>
                <a:latin typeface="Apple SD Gothic Neo"/>
              </a:rPr>
              <a:t>→</a:t>
            </a:r>
          </a:p>
        </p:txBody>
      </p:sp>
      <p:sp>
        <p:nvSpPr>
          <p:cNvPr id="17" name="Rectangle 16"/>
          <p:cNvSpPr/>
          <p:nvPr/>
        </p:nvSpPr>
        <p:spPr>
          <a:xfrm>
            <a:off x="7511796" y="1691640"/>
            <a:ext cx="1993392" cy="896112"/>
          </a:xfrm>
          <a:prstGeom prst="rect">
            <a:avLst/>
          </a:prstGeom>
          <a:solidFill>
            <a:srgbClr val="E875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11796" y="1783080"/>
            <a:ext cx="1993392" cy="804672"/>
          </a:xfrm>
          <a:prstGeom prst="rect">
            <a:avLst/>
          </a:prstGeom>
          <a:noFill/>
        </p:spPr>
        <p:txBody>
          <a:bodyPr wrap="square">
            <a:spAutoFit/>
          </a:bodyPr>
          <a:lstStyle/>
          <a:p>
            <a:pPr algn="ctr"/>
            <a:r>
              <a:rPr sz="1300" b="1" i="0">
                <a:solidFill>
                  <a:srgbClr val="FFFFFF"/>
                </a:solidFill>
                <a:latin typeface="Apple SD Gothic Neo"/>
              </a:rPr>
              <a:t>Firestore</a:t>
            </a:r>
          </a:p>
          <a:p>
            <a:pPr algn="ctr"/>
            <a:r>
              <a:rPr sz="1300" b="1" i="0">
                <a:solidFill>
                  <a:srgbClr val="FFFFFF"/>
                </a:solidFill>
                <a:latin typeface="Apple SD Gothic Neo"/>
              </a:rPr>
              <a:t>DB 동기화</a:t>
            </a:r>
          </a:p>
        </p:txBody>
      </p:sp>
      <p:sp>
        <p:nvSpPr>
          <p:cNvPr id="19" name="TextBox 18"/>
          <p:cNvSpPr txBox="1"/>
          <p:nvPr/>
        </p:nvSpPr>
        <p:spPr>
          <a:xfrm>
            <a:off x="9669780" y="1856232"/>
            <a:ext cx="256032" cy="594360"/>
          </a:xfrm>
          <a:prstGeom prst="rect">
            <a:avLst/>
          </a:prstGeom>
          <a:noFill/>
        </p:spPr>
        <p:txBody>
          <a:bodyPr wrap="square">
            <a:spAutoFit/>
          </a:bodyPr>
          <a:lstStyle/>
          <a:p>
            <a:pPr algn="ctr"/>
            <a:r>
              <a:rPr sz="2000" b="1" i="0">
                <a:solidFill>
                  <a:srgbClr val="BDC3C7"/>
                </a:solidFill>
                <a:latin typeface="Apple SD Gothic Neo"/>
              </a:rPr>
              <a:t>→</a:t>
            </a:r>
          </a:p>
        </p:txBody>
      </p:sp>
      <p:sp>
        <p:nvSpPr>
          <p:cNvPr id="20" name="Rectangle 19"/>
          <p:cNvSpPr/>
          <p:nvPr/>
        </p:nvSpPr>
        <p:spPr>
          <a:xfrm>
            <a:off x="9925812" y="1691640"/>
            <a:ext cx="1993392" cy="89611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25812" y="1783080"/>
            <a:ext cx="1993392" cy="804672"/>
          </a:xfrm>
          <a:prstGeom prst="rect">
            <a:avLst/>
          </a:prstGeom>
          <a:noFill/>
        </p:spPr>
        <p:txBody>
          <a:bodyPr wrap="square">
            <a:spAutoFit/>
          </a:bodyPr>
          <a:lstStyle/>
          <a:p>
            <a:pPr algn="ctr"/>
            <a:r>
              <a:rPr sz="1300" b="1" i="0">
                <a:solidFill>
                  <a:srgbClr val="FFFFFF"/>
                </a:solidFill>
                <a:latin typeface="Apple SD Gothic Neo"/>
              </a:rPr>
              <a:t>iOS · Android</a:t>
            </a:r>
          </a:p>
          <a:p>
            <a:pPr algn="ctr"/>
            <a:r>
              <a:rPr sz="1300" b="1" i="0">
                <a:solidFill>
                  <a:srgbClr val="FFFFFF"/>
                </a:solidFill>
                <a:latin typeface="Apple SD Gothic Neo"/>
              </a:rPr>
              <a:t>앱 배포</a:t>
            </a:r>
          </a:p>
        </p:txBody>
      </p:sp>
      <p:graphicFrame>
        <p:nvGraphicFramePr>
          <p:cNvPr id="22" name="Table 21"/>
          <p:cNvGraphicFramePr>
            <a:graphicFrameLocks noGrp="1"/>
          </p:cNvGraphicFramePr>
          <p:nvPr/>
        </p:nvGraphicFramePr>
        <p:xfrm>
          <a:off x="201168" y="2770632"/>
          <a:ext cx="11521440" cy="3520440"/>
        </p:xfrm>
        <a:graphic>
          <a:graphicData uri="http://schemas.openxmlformats.org/drawingml/2006/table">
            <a:tbl>
              <a:tblPr firstRow="1" bandRow="1">
                <a:tableStyleId>{5C22544A-7EE6-4342-B048-85BDC9FD1C3A}</a:tableStyleId>
              </a:tblPr>
              <a:tblGrid>
                <a:gridCol w="2011680"/>
                <a:gridCol w="6858000"/>
                <a:gridCol w="2651760"/>
              </a:tblGrid>
              <a:tr h="704088">
                <a:tc>
                  <a:txBody>
                    <a:bodyPr wrap="square"/>
                    <a:lstStyle/>
                    <a:p>
                      <a:pPr algn="ctr"/>
                      <a:r>
                        <a:rPr sz="1300" b="1">
                          <a:solidFill>
                            <a:srgbClr val="FFFFFF"/>
                          </a:solidFill>
                          <a:latin typeface="Apple SD Gothic Neo"/>
                        </a:rPr>
                        <a:t>AI 활용 영역</a:t>
                      </a:r>
                    </a:p>
                  </a:txBody>
                  <a:tcPr>
                    <a:solidFill>
                      <a:srgbClr val="27AE60"/>
                    </a:solidFill>
                  </a:tcPr>
                </a:tc>
                <a:tc>
                  <a:txBody>
                    <a:bodyPr wrap="square"/>
                    <a:lstStyle/>
                    <a:p>
                      <a:pPr algn="ctr"/>
                      <a:r>
                        <a:rPr sz="1300" b="1">
                          <a:solidFill>
                            <a:srgbClr val="FFFFFF"/>
                          </a:solidFill>
                          <a:latin typeface="Apple SD Gothic Neo"/>
                        </a:rPr>
                        <a:t>현재 구현 완료 내용</a:t>
                      </a:r>
                    </a:p>
                  </a:txBody>
                  <a:tcPr>
                    <a:solidFill>
                      <a:srgbClr val="27AE60"/>
                    </a:solidFill>
                  </a:tcPr>
                </a:tc>
                <a:tc>
                  <a:txBody>
                    <a:bodyPr wrap="square"/>
                    <a:lstStyle/>
                    <a:p>
                      <a:pPr algn="ctr"/>
                      <a:r>
                        <a:rPr sz="1300" b="1">
                          <a:solidFill>
                            <a:srgbClr val="FFFFFF"/>
                          </a:solidFill>
                          <a:latin typeface="Apple SD Gothic Neo"/>
                        </a:rPr>
                        <a:t>성과</a:t>
                      </a:r>
                    </a:p>
                  </a:txBody>
                  <a:tcPr>
                    <a:solidFill>
                      <a:srgbClr val="27AE60"/>
                    </a:solidFill>
                  </a:tcPr>
                </a:tc>
              </a:tr>
              <a:tr h="704088">
                <a:tc>
                  <a:txBody>
                    <a:bodyPr wrap="square"/>
                    <a:lstStyle/>
                    <a:p>
                      <a:pPr algn="l"/>
                      <a:r>
                        <a:rPr sz="1200" b="1">
                          <a:solidFill>
                            <a:srgbClr val="1A1A2E"/>
                          </a:solidFill>
                          <a:latin typeface="Apple SD Gothic Neo"/>
                        </a:rPr>
                        <a:t>콘텐츠 생성</a:t>
                      </a:r>
                    </a:p>
                  </a:txBody>
                  <a:tcPr>
                    <a:solidFill>
                      <a:srgbClr val="F9FFF9"/>
                    </a:solidFill>
                  </a:tcPr>
                </a:tc>
                <a:tc>
                  <a:txBody>
                    <a:bodyPr wrap="square"/>
                    <a:lstStyle/>
                    <a:p>
                      <a:pPr algn="l"/>
                      <a:r>
                        <a:rPr sz="1200" b="0">
                          <a:solidFill>
                            <a:srgbClr val="4A5A6A"/>
                          </a:solidFill>
                          <a:latin typeface="Apple SD Gothic Neo"/>
                        </a:rPr>
                        <a:t>Claude API로 수능 어휘 662개 예문 자동 작성
(문맥 포함 예문, 빈칸 처리, 유의어 자동화)</a:t>
                      </a:r>
                    </a:p>
                  </a:txBody>
                  <a:tcPr>
                    <a:solidFill>
                      <a:srgbClr val="FFFFFF"/>
                    </a:solidFill>
                  </a:tcPr>
                </a:tc>
                <a:tc>
                  <a:txBody>
                    <a:bodyPr wrap="square"/>
                    <a:lstStyle/>
                    <a:p>
                      <a:pPr algn="ctr"/>
                      <a:r>
                        <a:rPr sz="1200" b="1">
                          <a:solidFill>
                            <a:srgbClr val="27AE60"/>
                          </a:solidFill>
                          <a:latin typeface="Apple SD Gothic Neo"/>
                        </a:rPr>
                        <a:t>662개 생성·적용 완료</a:t>
                      </a:r>
                    </a:p>
                  </a:txBody>
                  <a:tcPr>
                    <a:solidFill>
                      <a:srgbClr val="FFFFFF"/>
                    </a:solidFill>
                  </a:tcPr>
                </a:tc>
              </a:tr>
              <a:tr h="704088">
                <a:tc>
                  <a:txBody>
                    <a:bodyPr wrap="square"/>
                    <a:lstStyle/>
                    <a:p>
                      <a:pPr algn="l"/>
                      <a:r>
                        <a:rPr sz="1200" b="1">
                          <a:solidFill>
                            <a:srgbClr val="1A1A2E"/>
                          </a:solidFill>
                          <a:latin typeface="Apple SD Gothic Neo"/>
                        </a:rPr>
                        <a:t>품질 검수</a:t>
                      </a:r>
                    </a:p>
                  </a:txBody>
                  <a:tcPr>
                    <a:solidFill>
                      <a:srgbClr val="EDFAF3"/>
                    </a:solidFill>
                  </a:tcPr>
                </a:tc>
                <a:tc>
                  <a:txBody>
                    <a:bodyPr wrap="square"/>
                    <a:lstStyle/>
                    <a:p>
                      <a:pPr algn="l"/>
                      <a:r>
                        <a:rPr sz="1200" b="0">
                          <a:solidFill>
                            <a:srgbClr val="4A5A6A"/>
                          </a:solidFill>
                          <a:latin typeface="Apple SD Gothic Neo"/>
                        </a:rPr>
                        <a:t>관리자 검수 웹(admin.html) + AI 자동 필터 연동
(word_reviews 기반 '수정 필요' 자동 제외)</a:t>
                      </a:r>
                    </a:p>
                  </a:txBody>
                  <a:tcPr>
                    <a:solidFill>
                      <a:srgbClr val="F4F9F6"/>
                    </a:solidFill>
                  </a:tcPr>
                </a:tc>
                <a:tc>
                  <a:txBody>
                    <a:bodyPr wrap="square"/>
                    <a:lstStyle/>
                    <a:p>
                      <a:pPr algn="ctr"/>
                      <a:r>
                        <a:rPr sz="1200" b="1">
                          <a:solidFill>
                            <a:srgbClr val="27AE60"/>
                          </a:solidFill>
                          <a:latin typeface="Apple SD Gothic Neo"/>
                        </a:rPr>
                        <a:t>"수정 필요" 45개 자동 제외</a:t>
                      </a:r>
                    </a:p>
                  </a:txBody>
                  <a:tcPr>
                    <a:solidFill>
                      <a:srgbClr val="F0FBF4"/>
                    </a:solidFill>
                  </a:tcPr>
                </a:tc>
              </a:tr>
              <a:tr h="704088">
                <a:tc>
                  <a:txBody>
                    <a:bodyPr wrap="square"/>
                    <a:lstStyle/>
                    <a:p>
                      <a:pPr algn="l"/>
                      <a:r>
                        <a:rPr sz="1200" b="1">
                          <a:solidFill>
                            <a:srgbClr val="1A1A2E"/>
                          </a:solidFill>
                          <a:latin typeface="Apple SD Gothic Neo"/>
                        </a:rPr>
                        <a:t>데이터 동기화</a:t>
                      </a:r>
                    </a:p>
                  </a:txBody>
                  <a:tcPr>
                    <a:solidFill>
                      <a:srgbClr val="F9FFF9"/>
                    </a:solidFill>
                  </a:tcPr>
                </a:tc>
                <a:tc>
                  <a:txBody>
                    <a:bodyPr wrap="square"/>
                    <a:lstStyle/>
                    <a:p>
                      <a:pPr algn="l"/>
                      <a:r>
                        <a:rPr sz="1200" b="0">
                          <a:solidFill>
                            <a:srgbClr val="4A5A6A"/>
                          </a:solidFill>
                          <a:latin typeface="Apple SD Gothic Neo"/>
                        </a:rPr>
                        <a:t>sync_words.js: Firestore → words.json 자동 반영
(word_edits · word_deletions · word_reviews 통합)</a:t>
                      </a:r>
                    </a:p>
                  </a:txBody>
                  <a:tcPr>
                    <a:solidFill>
                      <a:srgbClr val="FFFFFF"/>
                    </a:solidFill>
                  </a:tcPr>
                </a:tc>
                <a:tc>
                  <a:txBody>
                    <a:bodyPr wrap="square"/>
                    <a:lstStyle/>
                    <a:p>
                      <a:pPr algn="ctr"/>
                      <a:r>
                        <a:rPr sz="1200" b="1">
                          <a:solidFill>
                            <a:srgbClr val="27AE60"/>
                          </a:solidFill>
                          <a:latin typeface="Apple SD Gothic Neo"/>
                        </a:rPr>
                        <a:t>검수 즉시 앱 자동 반영</a:t>
                      </a:r>
                    </a:p>
                  </a:txBody>
                  <a:tcPr>
                    <a:solidFill>
                      <a:srgbClr val="FFFFFF"/>
                    </a:solidFill>
                  </a:tcPr>
                </a:tc>
              </a:tr>
              <a:tr h="704088">
                <a:tc>
                  <a:txBody>
                    <a:bodyPr wrap="square"/>
                    <a:lstStyle/>
                    <a:p>
                      <a:pPr algn="l"/>
                      <a:r>
                        <a:rPr sz="1200" b="1">
                          <a:solidFill>
                            <a:srgbClr val="1A1A2E"/>
                          </a:solidFill>
                          <a:latin typeface="Apple SD Gothic Neo"/>
                        </a:rPr>
                        <a:t>운영 전체</a:t>
                      </a:r>
                    </a:p>
                  </a:txBody>
                  <a:tcPr>
                    <a:solidFill>
                      <a:srgbClr val="EDFAF3"/>
                    </a:solidFill>
                  </a:tcPr>
                </a:tc>
                <a:tc>
                  <a:txBody>
                    <a:bodyPr wrap="square"/>
                    <a:lstStyle/>
                    <a:p>
                      <a:pPr algn="l"/>
                      <a:r>
                        <a:rPr sz="1200" b="0">
                          <a:solidFill>
                            <a:srgbClr val="4A5A6A"/>
                          </a:solidFill>
                          <a:latin typeface="Apple SD Gothic Neo"/>
                        </a:rPr>
                        <a:t>1인이 기획·개발·AI 콘텐츠 생성·검수·배포 전 과정
(Capacitor 모바일 앱 + Firebase + Claude API 통합)</a:t>
                      </a:r>
                    </a:p>
                  </a:txBody>
                  <a:tcPr>
                    <a:solidFill>
                      <a:srgbClr val="F4F9F6"/>
                    </a:solidFill>
                  </a:tcPr>
                </a:tc>
                <a:tc>
                  <a:txBody>
                    <a:bodyPr wrap="square"/>
                    <a:lstStyle/>
                    <a:p>
                      <a:pPr algn="ctr"/>
                      <a:r>
                        <a:rPr sz="1200" b="1">
                          <a:solidFill>
                            <a:srgbClr val="27AE60"/>
                          </a:solidFill>
                          <a:latin typeface="Apple SD Gothic Neo"/>
                        </a:rPr>
                        <a:t>MVP 배포 완료
1,189개 운영 중</a:t>
                      </a:r>
                    </a:p>
                  </a:txBody>
                  <a:tcPr>
                    <a:solidFill>
                      <a:srgbClr val="F0FBF4"/>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11365992" cy="594360"/>
          </a:xfrm>
          <a:prstGeom prst="rect">
            <a:avLst/>
          </a:prstGeom>
          <a:noFill/>
        </p:spPr>
        <p:txBody>
          <a:bodyPr wrap="square">
            <a:spAutoFit/>
          </a:bodyPr>
          <a:lstStyle/>
          <a:p>
            <a:pPr algn="l"/>
            <a:r>
              <a:rPr sz="2200" b="1" i="0">
                <a:solidFill>
                  <a:srgbClr val="FFFFFF"/>
                </a:solidFill>
                <a:latin typeface="Apple SD Gothic Neo"/>
              </a:rPr>
              <a:t>AI 활용 역량  |  AI 도메인 전문성 및 활용 계획</a:t>
            </a:r>
          </a:p>
        </p:txBody>
      </p:sp>
      <p:sp>
        <p:nvSpPr>
          <p:cNvPr id="5" name="TextBox 4"/>
          <p:cNvSpPr txBox="1"/>
          <p:nvPr/>
        </p:nvSpPr>
        <p:spPr>
          <a:xfrm>
            <a:off x="411480" y="658368"/>
            <a:ext cx="11365992" cy="347472"/>
          </a:xfrm>
          <a:prstGeom prst="rect">
            <a:avLst/>
          </a:prstGeom>
          <a:noFill/>
        </p:spPr>
        <p:txBody>
          <a:bodyPr wrap="square">
            <a:spAutoFit/>
          </a:bodyPr>
          <a:lstStyle/>
          <a:p>
            <a:pPr algn="l"/>
            <a:r>
              <a:rPr sz="1200" b="0" i="1">
                <a:solidFill>
                  <a:srgbClr val="ADC6E5"/>
                </a:solidFill>
                <a:latin typeface="Apple SD Gothic Neo"/>
              </a:rPr>
              <a:t>2 / 2  —  AI 경쟁 우위 &amp; 향후 확장 로드맵</a:t>
            </a:r>
          </a:p>
        </p:txBody>
      </p:sp>
      <p:sp>
        <p:nvSpPr>
          <p:cNvPr id="6" name="Rectangle 5"/>
          <p:cNvSpPr/>
          <p:nvPr/>
        </p:nvSpPr>
        <p:spPr>
          <a:xfrm>
            <a:off x="0" y="1051560"/>
            <a:ext cx="73152" cy="58064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1216152"/>
            <a:ext cx="5760720" cy="347472"/>
          </a:xfrm>
          <a:prstGeom prst="rect">
            <a:avLst/>
          </a:prstGeom>
          <a:noFill/>
        </p:spPr>
        <p:txBody>
          <a:bodyPr wrap="square">
            <a:spAutoFit/>
          </a:bodyPr>
          <a:lstStyle/>
          <a:p>
            <a:pPr algn="l"/>
            <a:r>
              <a:rPr sz="1400" b="1" i="0">
                <a:solidFill>
                  <a:srgbClr val="27AE60"/>
                </a:solidFill>
                <a:latin typeface="Apple SD Gothic Neo"/>
              </a:rPr>
              <a:t>AI가 창출하는 3가지 핵심 경쟁 우위</a:t>
            </a:r>
          </a:p>
        </p:txBody>
      </p:sp>
      <p:sp>
        <p:nvSpPr>
          <p:cNvPr id="8" name="Rectangle 7"/>
          <p:cNvSpPr/>
          <p:nvPr/>
        </p:nvSpPr>
        <p:spPr>
          <a:xfrm>
            <a:off x="201168" y="1645920"/>
            <a:ext cx="5760720" cy="1389888"/>
          </a:xfrm>
          <a:prstGeom prst="rect">
            <a:avLst/>
          </a:prstGeom>
          <a:solidFill>
            <a:srgbClr val="F0FB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1168" y="1645920"/>
            <a:ext cx="73152" cy="138988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737360"/>
            <a:ext cx="5394960" cy="384048"/>
          </a:xfrm>
          <a:prstGeom prst="rect">
            <a:avLst/>
          </a:prstGeom>
          <a:noFill/>
        </p:spPr>
        <p:txBody>
          <a:bodyPr wrap="square">
            <a:spAutoFit/>
          </a:bodyPr>
          <a:lstStyle/>
          <a:p>
            <a:pPr algn="l"/>
            <a:r>
              <a:rPr sz="1300" b="1" i="0">
                <a:solidFill>
                  <a:srgbClr val="27AE60"/>
                </a:solidFill>
                <a:latin typeface="Apple SD Gothic Neo"/>
              </a:rPr>
              <a:t>비용 구조 혁신</a:t>
            </a:r>
          </a:p>
        </p:txBody>
      </p:sp>
      <p:sp>
        <p:nvSpPr>
          <p:cNvPr id="11" name="TextBox 10"/>
          <p:cNvSpPr txBox="1"/>
          <p:nvPr/>
        </p:nvSpPr>
        <p:spPr>
          <a:xfrm>
            <a:off x="384048" y="2148840"/>
            <a:ext cx="5394960" cy="841248"/>
          </a:xfrm>
          <a:prstGeom prst="rect">
            <a:avLst/>
          </a:prstGeom>
          <a:noFill/>
        </p:spPr>
        <p:txBody>
          <a:bodyPr wrap="square">
            <a:spAutoFit/>
          </a:bodyPr>
          <a:lstStyle/>
          <a:p>
            <a:pPr algn="l"/>
            <a:r>
              <a:rPr sz="1100" b="0" i="0">
                <a:solidFill>
                  <a:srgbClr val="4A5A6A"/>
                </a:solidFill>
                <a:latin typeface="Apple SD Gothic Neo"/>
              </a:rPr>
              <a:t>단어 콘텐츠 생산에 전통적으로 국어교사·편집자 팀이 필요.</a:t>
            </a:r>
          </a:p>
          <a:p>
            <a:pPr algn="l"/>
            <a:r>
              <a:rPr sz="1100" b="0" i="0">
                <a:solidFill>
                  <a:srgbClr val="4A5A6A"/>
                </a:solidFill>
                <a:latin typeface="Apple SD Gothic Neo"/>
              </a:rPr>
              <a:t>→  Claude API 자동화로 1인이 1,189개 고품질 데이터 구축 완료.</a:t>
            </a:r>
          </a:p>
          <a:p>
            <a:pPr algn="l"/>
            <a:r>
              <a:rPr sz="1100" b="0" i="0">
                <a:solidFill>
                  <a:srgbClr val="4A5A6A"/>
                </a:solidFill>
                <a:latin typeface="Apple SD Gothic Neo"/>
              </a:rPr>
              <a:t>→  경쟁자 대비 콘텐츠 생산 비용 90% 이상 절감.</a:t>
            </a:r>
          </a:p>
        </p:txBody>
      </p:sp>
      <p:sp>
        <p:nvSpPr>
          <p:cNvPr id="12" name="Rectangle 11"/>
          <p:cNvSpPr/>
          <p:nvPr/>
        </p:nvSpPr>
        <p:spPr>
          <a:xfrm>
            <a:off x="201168" y="3127248"/>
            <a:ext cx="5760720" cy="1389888"/>
          </a:xfrm>
          <a:prstGeom prst="rect">
            <a:avLst/>
          </a:prstGeom>
          <a:solidFill>
            <a:srgbClr val="F0FB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01168" y="3127248"/>
            <a:ext cx="73152" cy="138988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3218688"/>
            <a:ext cx="5394960" cy="384048"/>
          </a:xfrm>
          <a:prstGeom prst="rect">
            <a:avLst/>
          </a:prstGeom>
          <a:noFill/>
        </p:spPr>
        <p:txBody>
          <a:bodyPr wrap="square">
            <a:spAutoFit/>
          </a:bodyPr>
          <a:lstStyle/>
          <a:p>
            <a:pPr algn="l"/>
            <a:r>
              <a:rPr sz="1300" b="1" i="0">
                <a:solidFill>
                  <a:srgbClr val="27AE60"/>
                </a:solidFill>
                <a:latin typeface="Apple SD Gothic Neo"/>
              </a:rPr>
              <a:t>속도 우위</a:t>
            </a:r>
          </a:p>
        </p:txBody>
      </p:sp>
      <p:sp>
        <p:nvSpPr>
          <p:cNvPr id="15" name="TextBox 14"/>
          <p:cNvSpPr txBox="1"/>
          <p:nvPr/>
        </p:nvSpPr>
        <p:spPr>
          <a:xfrm>
            <a:off x="384048" y="3630168"/>
            <a:ext cx="5394960" cy="841248"/>
          </a:xfrm>
          <a:prstGeom prst="rect">
            <a:avLst/>
          </a:prstGeom>
          <a:noFill/>
        </p:spPr>
        <p:txBody>
          <a:bodyPr wrap="square">
            <a:spAutoFit/>
          </a:bodyPr>
          <a:lstStyle/>
          <a:p>
            <a:pPr algn="l"/>
            <a:r>
              <a:rPr sz="1100" b="0" i="0">
                <a:solidFill>
                  <a:srgbClr val="4A5A6A"/>
                </a:solidFill>
                <a:latin typeface="Apple SD Gothic Neo"/>
              </a:rPr>
              <a:t>새로운 주제 단어팩(의학·법률·반도체) 추가 시:</a:t>
            </a:r>
          </a:p>
          <a:p>
            <a:pPr algn="l"/>
            <a:r>
              <a:rPr sz="1100" b="0" i="0">
                <a:solidFill>
                  <a:srgbClr val="4A5A6A"/>
                </a:solidFill>
                <a:latin typeface="Apple SD Gothic Neo"/>
              </a:rPr>
              <a:t>기존 방식: 수개월 소요  →  AI 파이프라인: 수일 내 완료.</a:t>
            </a:r>
          </a:p>
          <a:p>
            <a:pPr algn="l"/>
            <a:r>
              <a:rPr sz="1100" b="0" i="0">
                <a:solidFill>
                  <a:srgbClr val="4A5A6A"/>
                </a:solidFill>
                <a:latin typeface="Apple SD Gothic Neo"/>
              </a:rPr>
              <a:t>→  시장 대응 속도 자체가 진입 장벽.</a:t>
            </a:r>
          </a:p>
        </p:txBody>
      </p:sp>
      <p:sp>
        <p:nvSpPr>
          <p:cNvPr id="16" name="Rectangle 15"/>
          <p:cNvSpPr/>
          <p:nvPr/>
        </p:nvSpPr>
        <p:spPr>
          <a:xfrm>
            <a:off x="201168" y="4608576"/>
            <a:ext cx="5760720" cy="1389888"/>
          </a:xfrm>
          <a:prstGeom prst="rect">
            <a:avLst/>
          </a:prstGeom>
          <a:solidFill>
            <a:srgbClr val="F0FB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01168" y="4608576"/>
            <a:ext cx="73152" cy="138988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4700016"/>
            <a:ext cx="5394960" cy="384048"/>
          </a:xfrm>
          <a:prstGeom prst="rect">
            <a:avLst/>
          </a:prstGeom>
          <a:noFill/>
        </p:spPr>
        <p:txBody>
          <a:bodyPr wrap="square">
            <a:spAutoFit/>
          </a:bodyPr>
          <a:lstStyle/>
          <a:p>
            <a:pPr algn="l"/>
            <a:r>
              <a:rPr sz="1300" b="1" i="0">
                <a:solidFill>
                  <a:srgbClr val="27AE60"/>
                </a:solidFill>
                <a:latin typeface="Apple SD Gothic Neo"/>
              </a:rPr>
              <a:t>글로벌 확장성</a:t>
            </a:r>
          </a:p>
        </p:txBody>
      </p:sp>
      <p:sp>
        <p:nvSpPr>
          <p:cNvPr id="19" name="TextBox 18"/>
          <p:cNvSpPr txBox="1"/>
          <p:nvPr/>
        </p:nvSpPr>
        <p:spPr>
          <a:xfrm>
            <a:off x="384048" y="5111496"/>
            <a:ext cx="5394960" cy="841248"/>
          </a:xfrm>
          <a:prstGeom prst="rect">
            <a:avLst/>
          </a:prstGeom>
          <a:noFill/>
        </p:spPr>
        <p:txBody>
          <a:bodyPr wrap="square">
            <a:spAutoFit/>
          </a:bodyPr>
          <a:lstStyle/>
          <a:p>
            <a:pPr algn="l"/>
            <a:r>
              <a:rPr sz="1100" b="0" i="0">
                <a:solidFill>
                  <a:srgbClr val="4A5A6A"/>
                </a:solidFill>
                <a:latin typeface="Apple SD Gothic Neo"/>
              </a:rPr>
              <a:t>동일 파이프라인으로 영어·일본어 어휘팩 추가 시 글로벌 진출 즉시 가능.</a:t>
            </a:r>
          </a:p>
          <a:p>
            <a:pPr algn="l"/>
            <a:r>
              <a:rPr sz="1100" b="0" i="0">
                <a:solidFill>
                  <a:srgbClr val="4A5A6A"/>
                </a:solidFill>
                <a:latin typeface="Apple SD Gothic Neo"/>
              </a:rPr>
              <a:t>→  1인 창업자가 다국어 플랫폼을 운영할 수 있는 유일한 방법.</a:t>
            </a:r>
          </a:p>
          <a:p>
            <a:pPr algn="l"/>
            <a:r>
              <a:rPr sz="1100" b="0" i="0">
                <a:solidFill>
                  <a:srgbClr val="4A5A6A"/>
                </a:solidFill>
                <a:latin typeface="Apple SD Gothic Neo"/>
              </a:rPr>
              <a:t>→  AI 없이는 구조적으로 불가능한 비즈니스 모델.</a:t>
            </a:r>
          </a:p>
        </p:txBody>
      </p:sp>
      <p:sp>
        <p:nvSpPr>
          <p:cNvPr id="20" name="TextBox 19"/>
          <p:cNvSpPr txBox="1"/>
          <p:nvPr/>
        </p:nvSpPr>
        <p:spPr>
          <a:xfrm>
            <a:off x="6217920" y="1216152"/>
            <a:ext cx="5669280" cy="347472"/>
          </a:xfrm>
          <a:prstGeom prst="rect">
            <a:avLst/>
          </a:prstGeom>
          <a:noFill/>
        </p:spPr>
        <p:txBody>
          <a:bodyPr wrap="square">
            <a:spAutoFit/>
          </a:bodyPr>
          <a:lstStyle/>
          <a:p>
            <a:pPr algn="l"/>
            <a:r>
              <a:rPr sz="1400" b="1" i="0">
                <a:solidFill>
                  <a:srgbClr val="27AE60"/>
                </a:solidFill>
                <a:latin typeface="Apple SD Gothic Neo"/>
              </a:rPr>
              <a:t>향후 AI Agent 확장 로드맵</a:t>
            </a:r>
          </a:p>
        </p:txBody>
      </p:sp>
      <p:sp>
        <p:nvSpPr>
          <p:cNvPr id="21" name="Rectangle 20"/>
          <p:cNvSpPr/>
          <p:nvPr/>
        </p:nvSpPr>
        <p:spPr>
          <a:xfrm>
            <a:off x="6217920" y="1618488"/>
            <a:ext cx="5641848" cy="157276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1618488"/>
            <a:ext cx="228600" cy="157276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37960" y="1728216"/>
            <a:ext cx="5303520" cy="384048"/>
          </a:xfrm>
          <a:prstGeom prst="rect">
            <a:avLst/>
          </a:prstGeom>
          <a:noFill/>
        </p:spPr>
        <p:txBody>
          <a:bodyPr wrap="square">
            <a:spAutoFit/>
          </a:bodyPr>
          <a:lstStyle/>
          <a:p>
            <a:pPr algn="l"/>
            <a:r>
              <a:rPr sz="1200" b="1" i="0">
                <a:solidFill>
                  <a:srgbClr val="27AE60"/>
                </a:solidFill>
                <a:latin typeface="Apple SD Gothic Neo"/>
              </a:rPr>
              <a:t>단기  2026 Q3</a:t>
            </a:r>
          </a:p>
        </p:txBody>
      </p:sp>
      <p:sp>
        <p:nvSpPr>
          <p:cNvPr id="24" name="TextBox 23"/>
          <p:cNvSpPr txBox="1"/>
          <p:nvPr/>
        </p:nvSpPr>
        <p:spPr>
          <a:xfrm>
            <a:off x="6537960" y="2148840"/>
            <a:ext cx="5212080" cy="320040"/>
          </a:xfrm>
          <a:prstGeom prst="rect">
            <a:avLst/>
          </a:prstGeom>
          <a:noFill/>
        </p:spPr>
        <p:txBody>
          <a:bodyPr wrap="square">
            <a:spAutoFit/>
          </a:bodyPr>
          <a:lstStyle/>
          <a:p>
            <a:pPr algn="l"/>
            <a:r>
              <a:rPr sz="1100" b="0" i="0">
                <a:solidFill>
                  <a:srgbClr val="4A5A6A"/>
                </a:solidFill>
                <a:latin typeface="Apple SD Gothic Neo"/>
              </a:rPr>
              <a:t>• 학습자 오답 패턴 AI 분석 → 개인화 복습 세션 자동 생성</a:t>
            </a:r>
          </a:p>
        </p:txBody>
      </p:sp>
      <p:sp>
        <p:nvSpPr>
          <p:cNvPr id="25" name="TextBox 24"/>
          <p:cNvSpPr txBox="1"/>
          <p:nvPr/>
        </p:nvSpPr>
        <p:spPr>
          <a:xfrm>
            <a:off x="6537960" y="2478024"/>
            <a:ext cx="5212080" cy="320040"/>
          </a:xfrm>
          <a:prstGeom prst="rect">
            <a:avLst/>
          </a:prstGeom>
          <a:noFill/>
        </p:spPr>
        <p:txBody>
          <a:bodyPr wrap="square">
            <a:spAutoFit/>
          </a:bodyPr>
          <a:lstStyle/>
          <a:p>
            <a:pPr algn="l"/>
            <a:r>
              <a:rPr sz="1100" b="0" i="0">
                <a:solidFill>
                  <a:srgbClr val="4A5A6A"/>
                </a:solidFill>
                <a:latin typeface="Apple SD Gothic Neo"/>
              </a:rPr>
              <a:t>• 망각 곡선 연동 AI 푸시 알림</a:t>
            </a:r>
          </a:p>
        </p:txBody>
      </p:sp>
      <p:sp>
        <p:nvSpPr>
          <p:cNvPr id="26" name="TextBox 25"/>
          <p:cNvSpPr txBox="1"/>
          <p:nvPr/>
        </p:nvSpPr>
        <p:spPr>
          <a:xfrm>
            <a:off x="6537960" y="2807208"/>
            <a:ext cx="5212080" cy="320040"/>
          </a:xfrm>
          <a:prstGeom prst="rect">
            <a:avLst/>
          </a:prstGeom>
          <a:noFill/>
        </p:spPr>
        <p:txBody>
          <a:bodyPr wrap="square">
            <a:spAutoFit/>
          </a:bodyPr>
          <a:lstStyle/>
          <a:p>
            <a:pPr algn="l"/>
            <a:r>
              <a:rPr sz="1100" b="0" i="0">
                <a:solidFill>
                  <a:srgbClr val="4A5A6A"/>
                </a:solidFill>
                <a:latin typeface="Apple SD Gothic Neo"/>
              </a:rPr>
              <a:t>• 단어팩 3,000개 이상으로 확장 (Claude API 자동화)</a:t>
            </a:r>
          </a:p>
        </p:txBody>
      </p:sp>
      <p:sp>
        <p:nvSpPr>
          <p:cNvPr id="27" name="Rectangle 26"/>
          <p:cNvSpPr/>
          <p:nvPr/>
        </p:nvSpPr>
        <p:spPr>
          <a:xfrm>
            <a:off x="6217920" y="3282696"/>
            <a:ext cx="5641848" cy="157276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3282696"/>
            <a:ext cx="228600" cy="1572768"/>
          </a:xfrm>
          <a:prstGeom prst="rect">
            <a:avLst/>
          </a:prstGeom>
          <a:solidFill>
            <a:srgbClr val="1A5F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37960" y="3392424"/>
            <a:ext cx="5303520" cy="384048"/>
          </a:xfrm>
          <a:prstGeom prst="rect">
            <a:avLst/>
          </a:prstGeom>
          <a:noFill/>
        </p:spPr>
        <p:txBody>
          <a:bodyPr wrap="square">
            <a:spAutoFit/>
          </a:bodyPr>
          <a:lstStyle/>
          <a:p>
            <a:pPr algn="l"/>
            <a:r>
              <a:rPr sz="1200" b="1" i="0">
                <a:solidFill>
                  <a:srgbClr val="1A5F9E"/>
                </a:solidFill>
                <a:latin typeface="Apple SD Gothic Neo"/>
              </a:rPr>
              <a:t>중기  2026 Q4</a:t>
            </a:r>
          </a:p>
        </p:txBody>
      </p:sp>
      <p:sp>
        <p:nvSpPr>
          <p:cNvPr id="30" name="TextBox 29"/>
          <p:cNvSpPr txBox="1"/>
          <p:nvPr/>
        </p:nvSpPr>
        <p:spPr>
          <a:xfrm>
            <a:off x="6537960" y="3813048"/>
            <a:ext cx="5212080" cy="320040"/>
          </a:xfrm>
          <a:prstGeom prst="rect">
            <a:avLst/>
          </a:prstGeom>
          <a:noFill/>
        </p:spPr>
        <p:txBody>
          <a:bodyPr wrap="square">
            <a:spAutoFit/>
          </a:bodyPr>
          <a:lstStyle/>
          <a:p>
            <a:pPr algn="l"/>
            <a:r>
              <a:rPr sz="1100" b="0" i="0">
                <a:solidFill>
                  <a:srgbClr val="4A5A6A"/>
                </a:solidFill>
                <a:latin typeface="Apple SD Gothic Neo"/>
              </a:rPr>
              <a:t>• AI 학습 코치: 오늘 이 단어를 복습해야 하는 이유 설명</a:t>
            </a:r>
          </a:p>
        </p:txBody>
      </p:sp>
      <p:sp>
        <p:nvSpPr>
          <p:cNvPr id="31" name="TextBox 30"/>
          <p:cNvSpPr txBox="1"/>
          <p:nvPr/>
        </p:nvSpPr>
        <p:spPr>
          <a:xfrm>
            <a:off x="6537960" y="4142232"/>
            <a:ext cx="5212080" cy="320040"/>
          </a:xfrm>
          <a:prstGeom prst="rect">
            <a:avLst/>
          </a:prstGeom>
          <a:noFill/>
        </p:spPr>
        <p:txBody>
          <a:bodyPr wrap="square">
            <a:spAutoFit/>
          </a:bodyPr>
          <a:lstStyle/>
          <a:p>
            <a:pPr algn="l"/>
            <a:r>
              <a:rPr sz="1100" b="0" i="0">
                <a:solidFill>
                  <a:srgbClr val="4A5A6A"/>
                </a:solidFill>
                <a:latin typeface="Apple SD Gothic Neo"/>
              </a:rPr>
              <a:t>• 어휘 해상도 테스트 SNS 배포 → 바이럴 유입 확대</a:t>
            </a:r>
          </a:p>
        </p:txBody>
      </p:sp>
      <p:sp>
        <p:nvSpPr>
          <p:cNvPr id="32" name="TextBox 31"/>
          <p:cNvSpPr txBox="1"/>
          <p:nvPr/>
        </p:nvSpPr>
        <p:spPr>
          <a:xfrm>
            <a:off x="6537960" y="4471416"/>
            <a:ext cx="5212080" cy="320040"/>
          </a:xfrm>
          <a:prstGeom prst="rect">
            <a:avLst/>
          </a:prstGeom>
          <a:noFill/>
        </p:spPr>
        <p:txBody>
          <a:bodyPr wrap="square">
            <a:spAutoFit/>
          </a:bodyPr>
          <a:lstStyle/>
          <a:p>
            <a:pPr algn="l"/>
            <a:r>
              <a:rPr sz="1100" b="0" i="0">
                <a:solidFill>
                  <a:srgbClr val="4A5A6A"/>
                </a:solidFill>
                <a:latin typeface="Apple SD Gothic Neo"/>
              </a:rPr>
              <a:t>• 월간 구독형 프리미엄 모델 정식 출시</a:t>
            </a:r>
          </a:p>
        </p:txBody>
      </p:sp>
      <p:sp>
        <p:nvSpPr>
          <p:cNvPr id="33" name="Rectangle 32"/>
          <p:cNvSpPr/>
          <p:nvPr/>
        </p:nvSpPr>
        <p:spPr>
          <a:xfrm>
            <a:off x="6217920" y="4946904"/>
            <a:ext cx="5641848" cy="157276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17920" y="4946904"/>
            <a:ext cx="228600" cy="157276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37960" y="5056632"/>
            <a:ext cx="5303520" cy="384048"/>
          </a:xfrm>
          <a:prstGeom prst="rect">
            <a:avLst/>
          </a:prstGeom>
          <a:noFill/>
        </p:spPr>
        <p:txBody>
          <a:bodyPr wrap="square">
            <a:spAutoFit/>
          </a:bodyPr>
          <a:lstStyle/>
          <a:p>
            <a:pPr algn="l"/>
            <a:r>
              <a:rPr sz="1200" b="1" i="0">
                <a:solidFill>
                  <a:srgbClr val="C0392B"/>
                </a:solidFill>
                <a:latin typeface="Apple SD Gothic Neo"/>
              </a:rPr>
              <a:t>장기  2027+</a:t>
            </a:r>
          </a:p>
        </p:txBody>
      </p:sp>
      <p:sp>
        <p:nvSpPr>
          <p:cNvPr id="36" name="TextBox 35"/>
          <p:cNvSpPr txBox="1"/>
          <p:nvPr/>
        </p:nvSpPr>
        <p:spPr>
          <a:xfrm>
            <a:off x="6537960" y="5477256"/>
            <a:ext cx="5212080" cy="320040"/>
          </a:xfrm>
          <a:prstGeom prst="rect">
            <a:avLst/>
          </a:prstGeom>
          <a:noFill/>
        </p:spPr>
        <p:txBody>
          <a:bodyPr wrap="square">
            <a:spAutoFit/>
          </a:bodyPr>
          <a:lstStyle/>
          <a:p>
            <a:pPr algn="l"/>
            <a:r>
              <a:rPr sz="1100" b="0" i="0">
                <a:solidFill>
                  <a:srgbClr val="4A5A6A"/>
                </a:solidFill>
                <a:latin typeface="Apple SD Gothic Neo"/>
              </a:rPr>
              <a:t>• 영어·일본어 어휘팩 → 글로벌 시장 진출</a:t>
            </a:r>
          </a:p>
        </p:txBody>
      </p:sp>
      <p:sp>
        <p:nvSpPr>
          <p:cNvPr id="37" name="TextBox 36"/>
          <p:cNvSpPr txBox="1"/>
          <p:nvPr/>
        </p:nvSpPr>
        <p:spPr>
          <a:xfrm>
            <a:off x="6537960" y="5806440"/>
            <a:ext cx="5212080" cy="320040"/>
          </a:xfrm>
          <a:prstGeom prst="rect">
            <a:avLst/>
          </a:prstGeom>
          <a:noFill/>
        </p:spPr>
        <p:txBody>
          <a:bodyPr wrap="square">
            <a:spAutoFit/>
          </a:bodyPr>
          <a:lstStyle/>
          <a:p>
            <a:pPr algn="l"/>
            <a:r>
              <a:rPr sz="1100" b="0" i="0">
                <a:solidFill>
                  <a:srgbClr val="4A5A6A"/>
                </a:solidFill>
                <a:latin typeface="Apple SD Gothic Neo"/>
              </a:rPr>
              <a:t>• B2B: 학원·기업 어휘 교육 AI 솔루션</a:t>
            </a:r>
          </a:p>
        </p:txBody>
      </p:sp>
      <p:sp>
        <p:nvSpPr>
          <p:cNvPr id="38" name="TextBox 37"/>
          <p:cNvSpPr txBox="1"/>
          <p:nvPr/>
        </p:nvSpPr>
        <p:spPr>
          <a:xfrm>
            <a:off x="6537960" y="6135624"/>
            <a:ext cx="5212080" cy="320040"/>
          </a:xfrm>
          <a:prstGeom prst="rect">
            <a:avLst/>
          </a:prstGeom>
          <a:noFill/>
        </p:spPr>
        <p:txBody>
          <a:bodyPr wrap="square">
            <a:spAutoFit/>
          </a:bodyPr>
          <a:lstStyle/>
          <a:p>
            <a:pPr algn="l"/>
            <a:r>
              <a:rPr sz="1100" b="0" i="0">
                <a:solidFill>
                  <a:srgbClr val="4A5A6A"/>
                </a:solidFill>
                <a:latin typeface="Apple SD Gothic Neo"/>
              </a:rPr>
              <a:t>• AI 튜터 기반 완전 개인화 학습 플랫폼</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